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7"/>
      <p:bold r:id="rId18"/>
    </p:embeddedFont>
    <p:embeddedFont>
      <p:font typeface="Arial Italics" panose="020B0604020202020204" charset="0"/>
      <p:regular r:id="rId19"/>
    </p:embeddedFont>
    <p:embeddedFont>
      <p:font typeface="Times New Roman Bold" panose="02020803070505020304" pitchFamily="18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502.06911" TargetMode="External"/><Relationship Id="rId5" Type="http://schemas.openxmlformats.org/officeDocument/2006/relationships/hyperlink" Target="https://arxiv.org/abs/2409.01980" TargetMode="External"/><Relationship Id="rId4" Type="http://schemas.openxmlformats.org/officeDocument/2006/relationships/hyperlink" Target="https://arxiv.org/abs/2412.11142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2856" y="272144"/>
            <a:ext cx="17566120" cy="9756321"/>
            <a:chOff x="0" y="0"/>
            <a:chExt cx="23421494" cy="130084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21467" cy="13008483"/>
            </a:xfrm>
            <a:custGeom>
              <a:avLst/>
              <a:gdLst/>
              <a:ahLst/>
              <a:cxnLst/>
              <a:rect l="l" t="t" r="r" b="b"/>
              <a:pathLst>
                <a:path w="23421467" h="13008483">
                  <a:moveTo>
                    <a:pt x="0" y="0"/>
                  </a:moveTo>
                  <a:lnTo>
                    <a:pt x="23421467" y="0"/>
                  </a:lnTo>
                  <a:lnTo>
                    <a:pt x="23421467" y="13008483"/>
                  </a:lnTo>
                  <a:lnTo>
                    <a:pt x="0" y="13008483"/>
                  </a:lnTo>
                  <a:close/>
                </a:path>
              </a:pathLst>
            </a:custGeom>
            <a:solidFill>
              <a:srgbClr val="E6E4DC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4847176" y="272144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4"/>
                </a:lnTo>
                <a:lnTo>
                  <a:pt x="0" y="114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2856" y="4601505"/>
            <a:ext cx="17566120" cy="5416939"/>
          </a:xfrm>
          <a:custGeom>
            <a:avLst/>
            <a:gdLst/>
            <a:ahLst/>
            <a:cxnLst/>
            <a:rect l="l" t="t" r="r" b="b"/>
            <a:pathLst>
              <a:path w="17566120" h="5416939">
                <a:moveTo>
                  <a:pt x="0" y="0"/>
                </a:moveTo>
                <a:lnTo>
                  <a:pt x="17566120" y="0"/>
                </a:lnTo>
                <a:lnTo>
                  <a:pt x="17566120" y="5416939"/>
                </a:lnTo>
                <a:lnTo>
                  <a:pt x="0" y="5416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4949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65458" y="739686"/>
            <a:ext cx="16985964" cy="972000"/>
            <a:chOff x="0" y="0"/>
            <a:chExt cx="22647952" cy="129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47952" cy="1296000"/>
            </a:xfrm>
            <a:custGeom>
              <a:avLst/>
              <a:gdLst/>
              <a:ahLst/>
              <a:cxnLst/>
              <a:rect l="l" t="t" r="r" b="b"/>
              <a:pathLst>
                <a:path w="22647952" h="1296000">
                  <a:moveTo>
                    <a:pt x="0" y="0"/>
                  </a:moveTo>
                  <a:lnTo>
                    <a:pt x="22647952" y="0"/>
                  </a:lnTo>
                  <a:lnTo>
                    <a:pt x="226479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647952" cy="13626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Proposal [Anomaly Detection with Foundation Models for Cyber Security Applications]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294043" y="9206997"/>
            <a:ext cx="10014720" cy="593086"/>
            <a:chOff x="0" y="0"/>
            <a:chExt cx="13352960" cy="7907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52960" cy="790782"/>
            </a:xfrm>
            <a:custGeom>
              <a:avLst/>
              <a:gdLst/>
              <a:ahLst/>
              <a:cxnLst/>
              <a:rect l="l" t="t" r="r" b="b"/>
              <a:pathLst>
                <a:path w="13352960" h="790782">
                  <a:moveTo>
                    <a:pt x="0" y="0"/>
                  </a:moveTo>
                  <a:lnTo>
                    <a:pt x="13352960" y="0"/>
                  </a:lnTo>
                  <a:lnTo>
                    <a:pt x="13352960" y="790782"/>
                  </a:lnTo>
                  <a:lnTo>
                    <a:pt x="0" y="790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3352960" cy="8479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COMP8851, S1, 2025: Project Proposal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554" y="2117016"/>
            <a:ext cx="12814301" cy="1122294"/>
            <a:chOff x="0" y="0"/>
            <a:chExt cx="17085734" cy="14963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085734" cy="1496392"/>
            </a:xfrm>
            <a:custGeom>
              <a:avLst/>
              <a:gdLst/>
              <a:ahLst/>
              <a:cxnLst/>
              <a:rect l="l" t="t" r="r" b="b"/>
              <a:pathLst>
                <a:path w="17085734" h="1496392">
                  <a:moveTo>
                    <a:pt x="0" y="0"/>
                  </a:moveTo>
                  <a:lnTo>
                    <a:pt x="17085734" y="0"/>
                  </a:lnTo>
                  <a:lnTo>
                    <a:pt x="17085734" y="1496392"/>
                  </a:lnTo>
                  <a:lnTo>
                    <a:pt x="0" y="14963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7085734" cy="15630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Supervisor(s):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Dr, Xuyun Zhang​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Associate Professor, School of Computing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0000" y="4927828"/>
            <a:ext cx="15526815" cy="4133486"/>
            <a:chOff x="0" y="0"/>
            <a:chExt cx="20702420" cy="55113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02420" cy="5511314"/>
            </a:xfrm>
            <a:custGeom>
              <a:avLst/>
              <a:gdLst/>
              <a:ahLst/>
              <a:cxnLst/>
              <a:rect l="l" t="t" r="r" b="b"/>
              <a:pathLst>
                <a:path w="20702420" h="5511314">
                  <a:moveTo>
                    <a:pt x="0" y="0"/>
                  </a:moveTo>
                  <a:lnTo>
                    <a:pt x="20702420" y="0"/>
                  </a:lnTo>
                  <a:lnTo>
                    <a:pt x="20702420" y="5511314"/>
                  </a:lnTo>
                  <a:lnTo>
                    <a:pt x="0" y="5511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0702420" cy="556846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25"/>
                </a:lnSpc>
              </a:pPr>
              <a:r>
                <a:rPr lang="en-US" sz="243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Contributors:</a:t>
              </a:r>
            </a:p>
            <a:p>
              <a:pPr algn="l">
                <a:lnSpc>
                  <a:spcPts val="2925"/>
                </a:lnSpc>
              </a:pPr>
              <a:endParaRPr lang="en-US" sz="243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3977"/>
                </a:lnSpc>
              </a:pPr>
              <a:r>
                <a:rPr lang="en-US" sz="2437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Aurelio Ribiero (47915854)​</a:t>
              </a:r>
            </a:p>
            <a:p>
              <a:pPr algn="l">
                <a:lnSpc>
                  <a:spcPts val="3977"/>
                </a:lnSpc>
              </a:pPr>
              <a:r>
                <a:rPr lang="en-US" sz="2437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Chris Crasto Paschol (48055204)​</a:t>
              </a:r>
            </a:p>
            <a:p>
              <a:pPr algn="l">
                <a:lnSpc>
                  <a:spcPts val="3977"/>
                </a:lnSpc>
              </a:pPr>
              <a:r>
                <a:rPr lang="en-US" sz="2437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Sachin Byanju (47889640)​</a:t>
              </a:r>
            </a:p>
            <a:p>
              <a:pPr algn="l">
                <a:lnSpc>
                  <a:spcPts val="3977"/>
                </a:lnSpc>
              </a:pPr>
              <a:r>
                <a:rPr lang="en-US" sz="2437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Saksham Khatiwada (47937351)​</a:t>
              </a:r>
            </a:p>
            <a:p>
              <a:pPr algn="l">
                <a:lnSpc>
                  <a:spcPts val="3977"/>
                </a:lnSpc>
              </a:pPr>
              <a:r>
                <a:rPr lang="en-US" sz="2437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Sanam Ghimire (47368934)</a:t>
              </a:r>
            </a:p>
            <a:p>
              <a:pPr algn="l">
                <a:lnSpc>
                  <a:spcPts val="2925"/>
                </a:lnSpc>
              </a:pPr>
              <a:endParaRPr lang="en-US" sz="243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l">
                <a:lnSpc>
                  <a:spcPts val="2925"/>
                </a:lnSpc>
              </a:pPr>
              <a:endParaRPr lang="en-US" sz="243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l">
                <a:lnSpc>
                  <a:spcPts val="2925"/>
                </a:lnSpc>
              </a:pPr>
              <a:endParaRPr lang="en-US" sz="243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11957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39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Big Picture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000" y="2430000"/>
            <a:ext cx="16200002" cy="6788944"/>
            <a:chOff x="0" y="0"/>
            <a:chExt cx="21600002" cy="9051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0002" cy="9051926"/>
            </a:xfrm>
            <a:custGeom>
              <a:avLst/>
              <a:gdLst/>
              <a:ahLst/>
              <a:cxnLst/>
              <a:rect l="l" t="t" r="r" b="b"/>
              <a:pathLst>
                <a:path w="21600002" h="9051926">
                  <a:moveTo>
                    <a:pt x="0" y="0"/>
                  </a:moveTo>
                  <a:lnTo>
                    <a:pt x="21600002" y="0"/>
                  </a:lnTo>
                  <a:lnTo>
                    <a:pt x="21600002" y="9051926"/>
                  </a:lnTo>
                  <a:lnTo>
                    <a:pt x="0" y="9051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28600"/>
              <a:ext cx="21600002" cy="92805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030129" lvl="1" indent="-515064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Vision:</a:t>
              </a: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Leverage the language comprehension and generation ability of foundation models to detect anomaly. </a:t>
              </a:r>
            </a:p>
            <a:p>
              <a:pPr marL="1030129" lvl="1" indent="-515064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8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Aim:</a:t>
              </a: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Develop an anomaly detection system that identifies cybersecurity anomalies while efficiently handling scarce labelled data.</a:t>
              </a:r>
            </a:p>
            <a:p>
              <a:pPr marL="1030129" lvl="1" indent="-515064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8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Objective:</a:t>
              </a: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Enhanced anomaly detection in cybersecurity domains with limited data, while helping improve model selection.  </a:t>
              </a:r>
            </a:p>
            <a:p>
              <a:pPr marL="1030129" lvl="1" indent="-515064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8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Goal:</a:t>
              </a: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Create a reliable, explainable anomaly detection model that is not only able to detect anomalies but also explain as to why it is an anomaly.</a:t>
              </a:r>
            </a:p>
            <a:p>
              <a:pPr marL="1030129" lvl="1" indent="-515064" algn="just">
                <a:lnSpc>
                  <a:spcPts val="3419"/>
                </a:lnSpc>
              </a:pPr>
              <a:endPara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3707" y="9571993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11957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39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Problem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000" y="2517549"/>
            <a:ext cx="16200002" cy="6788944"/>
            <a:chOff x="0" y="0"/>
            <a:chExt cx="21600002" cy="9051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0002" cy="9051926"/>
            </a:xfrm>
            <a:custGeom>
              <a:avLst/>
              <a:gdLst/>
              <a:ahLst/>
              <a:cxnLst/>
              <a:rect l="l" t="t" r="r" b="b"/>
              <a:pathLst>
                <a:path w="21600002" h="9051926">
                  <a:moveTo>
                    <a:pt x="0" y="0"/>
                  </a:moveTo>
                  <a:lnTo>
                    <a:pt x="21600002" y="0"/>
                  </a:lnTo>
                  <a:lnTo>
                    <a:pt x="21600002" y="9051926"/>
                  </a:lnTo>
                  <a:lnTo>
                    <a:pt x="0" y="9051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71450"/>
              <a:ext cx="21600002" cy="922337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507635" lvl="1" indent="-253817" algn="just">
                <a:lnSpc>
                  <a:spcPts val="4544"/>
                </a:lnSpc>
                <a:buFont typeface="Arial"/>
                <a:buChar char="•"/>
              </a:pPr>
              <a:r>
                <a:rPr lang="en-US" sz="280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diverse nature of cybersecurity data results in a significant challenge to traditional anomaly detection methods as it struggles with imbalanced datasets and insufficient anomaly labels. </a:t>
              </a:r>
            </a:p>
            <a:p>
              <a:pPr marL="507635" lvl="1" indent="-253817" algn="just">
                <a:lnSpc>
                  <a:spcPts val="4544"/>
                </a:lnSpc>
              </a:pPr>
              <a:endParaRPr lang="en-US" sz="28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07635" lvl="1" indent="-253817" algn="just">
                <a:lnSpc>
                  <a:spcPts val="4544"/>
                </a:lnSpc>
                <a:buFont typeface="Arial"/>
                <a:buChar char="•"/>
              </a:pPr>
              <a:r>
                <a:rPr lang="en-US" sz="280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 Problems:</a:t>
              </a:r>
            </a:p>
            <a:p>
              <a:pPr marL="1661636" lvl="2" indent="-55387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Can LLMs perform anomaly detection without task-specific training?</a:t>
              </a:r>
            </a:p>
            <a:p>
              <a:pPr marL="1661636" lvl="2" indent="-55387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efficacy of synthetic data augmentation to address data scarcity.</a:t>
              </a:r>
            </a:p>
            <a:p>
              <a:pPr marL="1661636" lvl="2" indent="-55387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 it possible for foundation models to enhance model selection and explainability?</a:t>
              </a:r>
            </a:p>
            <a:p>
              <a:pPr marL="1827800" lvl="2" indent="-609267" algn="just">
                <a:lnSpc>
                  <a:spcPts val="4544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07635" lvl="2" indent="-169212" algn="just">
                <a:lnSpc>
                  <a:spcPts val="4544"/>
                </a:lnSpc>
                <a:buFont typeface="Arial"/>
                <a:buChar char="⚬"/>
              </a:pPr>
              <a:r>
                <a:rPr lang="en-US" sz="280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goal is to improve detection accuracy while reducing human labelling effort, which makes anomaly detection more efficient.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11108" y="9662477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632064" y="9571994"/>
            <a:ext cx="7956996" cy="547687"/>
            <a:chOff x="0" y="0"/>
            <a:chExt cx="1060932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6306" y="2308481"/>
            <a:ext cx="3360336" cy="1034770"/>
            <a:chOff x="0" y="0"/>
            <a:chExt cx="4480448" cy="1379694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4429633" cy="1328928"/>
            </a:xfrm>
            <a:custGeom>
              <a:avLst/>
              <a:gdLst/>
              <a:ahLst/>
              <a:cxnLst/>
              <a:rect l="l" t="t" r="r" b="b"/>
              <a:pathLst>
                <a:path w="4429633" h="1328928">
                  <a:moveTo>
                    <a:pt x="0" y="0"/>
                  </a:moveTo>
                  <a:lnTo>
                    <a:pt x="4020439" y="0"/>
                  </a:lnTo>
                  <a:lnTo>
                    <a:pt x="4429633" y="664464"/>
                  </a:lnTo>
                  <a:lnTo>
                    <a:pt x="4020439" y="1328928"/>
                  </a:lnTo>
                  <a:lnTo>
                    <a:pt x="0" y="1328928"/>
                  </a:lnTo>
                  <a:lnTo>
                    <a:pt x="409194" y="664464"/>
                  </a:lnTo>
                  <a:close/>
                </a:path>
              </a:pathLst>
            </a:custGeom>
            <a:solidFill>
              <a:srgbClr val="76232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-1397" y="0"/>
              <a:ext cx="4483100" cy="1379728"/>
            </a:xfrm>
            <a:custGeom>
              <a:avLst/>
              <a:gdLst/>
              <a:ahLst/>
              <a:cxnLst/>
              <a:rect l="l" t="t" r="r" b="b"/>
              <a:pathLst>
                <a:path w="4483100" h="1379728">
                  <a:moveTo>
                    <a:pt x="26797" y="0"/>
                  </a:moveTo>
                  <a:lnTo>
                    <a:pt x="4047236" y="0"/>
                  </a:lnTo>
                  <a:cubicBezTo>
                    <a:pt x="4055999" y="0"/>
                    <a:pt x="4064254" y="4572"/>
                    <a:pt x="4068826" y="12065"/>
                  </a:cubicBezTo>
                  <a:lnTo>
                    <a:pt x="4478020" y="676529"/>
                  </a:lnTo>
                  <a:cubicBezTo>
                    <a:pt x="4483100" y="684657"/>
                    <a:pt x="4483100" y="694944"/>
                    <a:pt x="4478020" y="703199"/>
                  </a:cubicBezTo>
                  <a:lnTo>
                    <a:pt x="4068826" y="1367663"/>
                  </a:lnTo>
                  <a:cubicBezTo>
                    <a:pt x="4064254" y="1375156"/>
                    <a:pt x="4055999" y="1379728"/>
                    <a:pt x="4047236" y="1379728"/>
                  </a:cubicBezTo>
                  <a:lnTo>
                    <a:pt x="26797" y="1379728"/>
                  </a:lnTo>
                  <a:cubicBezTo>
                    <a:pt x="17653" y="1379728"/>
                    <a:pt x="9144" y="1374775"/>
                    <a:pt x="4572" y="1366774"/>
                  </a:cubicBezTo>
                  <a:cubicBezTo>
                    <a:pt x="0" y="1358773"/>
                    <a:pt x="254" y="1348867"/>
                    <a:pt x="5080" y="1341120"/>
                  </a:cubicBezTo>
                  <a:lnTo>
                    <a:pt x="414401" y="676529"/>
                  </a:lnTo>
                  <a:lnTo>
                    <a:pt x="435991" y="689864"/>
                  </a:lnTo>
                  <a:lnTo>
                    <a:pt x="414401" y="703199"/>
                  </a:lnTo>
                  <a:lnTo>
                    <a:pt x="5207" y="38735"/>
                  </a:lnTo>
                  <a:cubicBezTo>
                    <a:pt x="381" y="30861"/>
                    <a:pt x="127" y="21082"/>
                    <a:pt x="4572" y="12954"/>
                  </a:cubicBezTo>
                  <a:cubicBezTo>
                    <a:pt x="9017" y="4826"/>
                    <a:pt x="17653" y="0"/>
                    <a:pt x="26797" y="0"/>
                  </a:cubicBezTo>
                  <a:moveTo>
                    <a:pt x="26797" y="50800"/>
                  </a:moveTo>
                  <a:lnTo>
                    <a:pt x="26797" y="25400"/>
                  </a:lnTo>
                  <a:lnTo>
                    <a:pt x="48387" y="12065"/>
                  </a:lnTo>
                  <a:lnTo>
                    <a:pt x="457581" y="676529"/>
                  </a:lnTo>
                  <a:cubicBezTo>
                    <a:pt x="462661" y="684657"/>
                    <a:pt x="462661" y="694944"/>
                    <a:pt x="457581" y="703199"/>
                  </a:cubicBezTo>
                  <a:lnTo>
                    <a:pt x="48387" y="1367663"/>
                  </a:lnTo>
                  <a:lnTo>
                    <a:pt x="26797" y="1354328"/>
                  </a:lnTo>
                  <a:lnTo>
                    <a:pt x="26797" y="1328928"/>
                  </a:lnTo>
                  <a:lnTo>
                    <a:pt x="4047236" y="1328928"/>
                  </a:lnTo>
                  <a:lnTo>
                    <a:pt x="4047236" y="1354328"/>
                  </a:lnTo>
                  <a:lnTo>
                    <a:pt x="4025646" y="1340993"/>
                  </a:lnTo>
                  <a:lnTo>
                    <a:pt x="4434840" y="676529"/>
                  </a:lnTo>
                  <a:lnTo>
                    <a:pt x="4456430" y="689864"/>
                  </a:lnTo>
                  <a:lnTo>
                    <a:pt x="4434840" y="703199"/>
                  </a:lnTo>
                  <a:lnTo>
                    <a:pt x="4025646" y="38735"/>
                  </a:lnTo>
                  <a:lnTo>
                    <a:pt x="4047236" y="25400"/>
                  </a:lnTo>
                  <a:lnTo>
                    <a:pt x="4047236" y="50800"/>
                  </a:lnTo>
                  <a:lnTo>
                    <a:pt x="26797" y="50800"/>
                  </a:lnTo>
                  <a:close/>
                </a:path>
              </a:pathLst>
            </a:custGeom>
            <a:solidFill>
              <a:srgbClr val="76232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05307" y="2308481"/>
            <a:ext cx="2762334" cy="1034770"/>
            <a:chOff x="0" y="0"/>
            <a:chExt cx="3683112" cy="13796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83112" cy="1379694"/>
            </a:xfrm>
            <a:custGeom>
              <a:avLst/>
              <a:gdLst/>
              <a:ahLst/>
              <a:cxnLst/>
              <a:rect l="l" t="t" r="r" b="b"/>
              <a:pathLst>
                <a:path w="3683112" h="1379694">
                  <a:moveTo>
                    <a:pt x="0" y="0"/>
                  </a:moveTo>
                  <a:lnTo>
                    <a:pt x="3683112" y="0"/>
                  </a:lnTo>
                  <a:lnTo>
                    <a:pt x="3683112" y="1379694"/>
                  </a:lnTo>
                  <a:lnTo>
                    <a:pt x="0" y="13796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683112" cy="1417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36"/>
                </a:lnSpc>
              </a:pPr>
              <a:r>
                <a:rPr lang="en-US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 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6306" y="3522396"/>
            <a:ext cx="3061335" cy="5404858"/>
            <a:chOff x="0" y="0"/>
            <a:chExt cx="4081780" cy="7206478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4030980" cy="7155688"/>
            </a:xfrm>
            <a:custGeom>
              <a:avLst/>
              <a:gdLst/>
              <a:ahLst/>
              <a:cxnLst/>
              <a:rect l="l" t="t" r="r" b="b"/>
              <a:pathLst>
                <a:path w="4030980" h="7155688">
                  <a:moveTo>
                    <a:pt x="0" y="0"/>
                  </a:moveTo>
                  <a:lnTo>
                    <a:pt x="4030980" y="0"/>
                  </a:lnTo>
                  <a:lnTo>
                    <a:pt x="4030980" y="7155688"/>
                  </a:lnTo>
                  <a:lnTo>
                    <a:pt x="0" y="7155688"/>
                  </a:lnTo>
                  <a:close/>
                </a:path>
              </a:pathLst>
            </a:custGeom>
            <a:solidFill>
              <a:srgbClr val="D6CCCD">
                <a:alpha val="80784"/>
              </a:srgb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081780" cy="7206488"/>
            </a:xfrm>
            <a:custGeom>
              <a:avLst/>
              <a:gdLst/>
              <a:ahLst/>
              <a:cxnLst/>
              <a:rect l="l" t="t" r="r" b="b"/>
              <a:pathLst>
                <a:path w="4081780" h="7206488">
                  <a:moveTo>
                    <a:pt x="25400" y="0"/>
                  </a:moveTo>
                  <a:lnTo>
                    <a:pt x="4056380" y="0"/>
                  </a:lnTo>
                  <a:cubicBezTo>
                    <a:pt x="4070350" y="0"/>
                    <a:pt x="4081780" y="11430"/>
                    <a:pt x="4081780" y="25400"/>
                  </a:cubicBezTo>
                  <a:lnTo>
                    <a:pt x="4081780" y="7181088"/>
                  </a:lnTo>
                  <a:cubicBezTo>
                    <a:pt x="4081780" y="7195058"/>
                    <a:pt x="4070350" y="7206488"/>
                    <a:pt x="4056380" y="7206488"/>
                  </a:cubicBezTo>
                  <a:lnTo>
                    <a:pt x="25400" y="7206488"/>
                  </a:lnTo>
                  <a:cubicBezTo>
                    <a:pt x="11430" y="7206488"/>
                    <a:pt x="0" y="7195058"/>
                    <a:pt x="0" y="71810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181088"/>
                  </a:lnTo>
                  <a:lnTo>
                    <a:pt x="25400" y="7181088"/>
                  </a:lnTo>
                  <a:lnTo>
                    <a:pt x="25400" y="7155688"/>
                  </a:lnTo>
                  <a:lnTo>
                    <a:pt x="4056380" y="7155688"/>
                  </a:lnTo>
                  <a:lnTo>
                    <a:pt x="4056380" y="7181088"/>
                  </a:lnTo>
                  <a:lnTo>
                    <a:pt x="4030980" y="7181088"/>
                  </a:lnTo>
                  <a:lnTo>
                    <a:pt x="4030980" y="25400"/>
                  </a:lnTo>
                  <a:lnTo>
                    <a:pt x="4056380" y="25400"/>
                  </a:lnTo>
                  <a:lnTo>
                    <a:pt x="40563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6CCCD">
                <a:alpha val="80784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206306" y="3522396"/>
            <a:ext cx="3061335" cy="5404858"/>
            <a:chOff x="0" y="0"/>
            <a:chExt cx="4081780" cy="720647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81780" cy="7206478"/>
            </a:xfrm>
            <a:custGeom>
              <a:avLst/>
              <a:gdLst/>
              <a:ahLst/>
              <a:cxnLst/>
              <a:rect l="l" t="t" r="r" b="b"/>
              <a:pathLst>
                <a:path w="4081780" h="7206478">
                  <a:moveTo>
                    <a:pt x="0" y="0"/>
                  </a:moveTo>
                  <a:lnTo>
                    <a:pt x="4081780" y="0"/>
                  </a:lnTo>
                  <a:lnTo>
                    <a:pt x="4081780" y="7206478"/>
                  </a:lnTo>
                  <a:lnTo>
                    <a:pt x="0" y="7206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4081780" cy="723505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Literature Review</a:t>
              </a:r>
            </a:p>
            <a:p>
              <a:pPr algn="l">
                <a:lnSpc>
                  <a:spcPts val="2268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2" indent="-126682" algn="l">
                <a:lnSpc>
                  <a:spcPts val="2268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Review existing literature on Anomaly Detection using Foundation Models.</a:t>
              </a:r>
            </a:p>
            <a:p>
              <a:pPr marL="380048" lvl="2" indent="-126682" algn="l">
                <a:lnSpc>
                  <a:spcPts val="2268"/>
                </a:lnSpc>
              </a:pPr>
              <a:endPara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2" indent="-126682" algn="l">
                <a:lnSpc>
                  <a:spcPts val="2268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Review existing Foundation Models and select one to use in Anomaly Detection. 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44069" y="2296410"/>
            <a:ext cx="3360336" cy="1034770"/>
            <a:chOff x="0" y="0"/>
            <a:chExt cx="4480448" cy="1379694"/>
          </a:xfrm>
        </p:grpSpPr>
        <p:sp>
          <p:nvSpPr>
            <p:cNvPr id="23" name="Freeform 23"/>
            <p:cNvSpPr/>
            <p:nvPr/>
          </p:nvSpPr>
          <p:spPr>
            <a:xfrm>
              <a:off x="25400" y="25400"/>
              <a:ext cx="4429633" cy="1328928"/>
            </a:xfrm>
            <a:custGeom>
              <a:avLst/>
              <a:gdLst/>
              <a:ahLst/>
              <a:cxnLst/>
              <a:rect l="l" t="t" r="r" b="b"/>
              <a:pathLst>
                <a:path w="4429633" h="1328928">
                  <a:moveTo>
                    <a:pt x="0" y="0"/>
                  </a:moveTo>
                  <a:lnTo>
                    <a:pt x="4020439" y="0"/>
                  </a:lnTo>
                  <a:lnTo>
                    <a:pt x="4429633" y="664464"/>
                  </a:lnTo>
                  <a:lnTo>
                    <a:pt x="4020439" y="1328928"/>
                  </a:lnTo>
                  <a:lnTo>
                    <a:pt x="0" y="1328928"/>
                  </a:lnTo>
                  <a:lnTo>
                    <a:pt x="409194" y="664464"/>
                  </a:lnTo>
                  <a:close/>
                </a:path>
              </a:pathLst>
            </a:custGeom>
            <a:solidFill>
              <a:srgbClr val="8B241D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-1397" y="0"/>
              <a:ext cx="4483100" cy="1379728"/>
            </a:xfrm>
            <a:custGeom>
              <a:avLst/>
              <a:gdLst/>
              <a:ahLst/>
              <a:cxnLst/>
              <a:rect l="l" t="t" r="r" b="b"/>
              <a:pathLst>
                <a:path w="4483100" h="1379728">
                  <a:moveTo>
                    <a:pt x="26797" y="0"/>
                  </a:moveTo>
                  <a:lnTo>
                    <a:pt x="4047236" y="0"/>
                  </a:lnTo>
                  <a:cubicBezTo>
                    <a:pt x="4055999" y="0"/>
                    <a:pt x="4064254" y="4572"/>
                    <a:pt x="4068826" y="12065"/>
                  </a:cubicBezTo>
                  <a:lnTo>
                    <a:pt x="4478020" y="676529"/>
                  </a:lnTo>
                  <a:cubicBezTo>
                    <a:pt x="4483100" y="684657"/>
                    <a:pt x="4483100" y="694944"/>
                    <a:pt x="4478020" y="703199"/>
                  </a:cubicBezTo>
                  <a:lnTo>
                    <a:pt x="4068826" y="1367663"/>
                  </a:lnTo>
                  <a:cubicBezTo>
                    <a:pt x="4064254" y="1375156"/>
                    <a:pt x="4055999" y="1379728"/>
                    <a:pt x="4047236" y="1379728"/>
                  </a:cubicBezTo>
                  <a:lnTo>
                    <a:pt x="26797" y="1379728"/>
                  </a:lnTo>
                  <a:cubicBezTo>
                    <a:pt x="17653" y="1379728"/>
                    <a:pt x="9144" y="1374775"/>
                    <a:pt x="4572" y="1366774"/>
                  </a:cubicBezTo>
                  <a:cubicBezTo>
                    <a:pt x="0" y="1358773"/>
                    <a:pt x="254" y="1348867"/>
                    <a:pt x="5080" y="1341120"/>
                  </a:cubicBezTo>
                  <a:lnTo>
                    <a:pt x="414401" y="676529"/>
                  </a:lnTo>
                  <a:lnTo>
                    <a:pt x="435991" y="689864"/>
                  </a:lnTo>
                  <a:lnTo>
                    <a:pt x="414401" y="703199"/>
                  </a:lnTo>
                  <a:lnTo>
                    <a:pt x="5207" y="38735"/>
                  </a:lnTo>
                  <a:cubicBezTo>
                    <a:pt x="381" y="30861"/>
                    <a:pt x="127" y="21082"/>
                    <a:pt x="4572" y="12954"/>
                  </a:cubicBezTo>
                  <a:cubicBezTo>
                    <a:pt x="9017" y="4826"/>
                    <a:pt x="17653" y="0"/>
                    <a:pt x="26797" y="0"/>
                  </a:cubicBezTo>
                  <a:moveTo>
                    <a:pt x="26797" y="50800"/>
                  </a:moveTo>
                  <a:lnTo>
                    <a:pt x="26797" y="25400"/>
                  </a:lnTo>
                  <a:lnTo>
                    <a:pt x="48387" y="12065"/>
                  </a:lnTo>
                  <a:lnTo>
                    <a:pt x="457581" y="676529"/>
                  </a:lnTo>
                  <a:cubicBezTo>
                    <a:pt x="462661" y="684657"/>
                    <a:pt x="462661" y="694944"/>
                    <a:pt x="457581" y="703199"/>
                  </a:cubicBezTo>
                  <a:lnTo>
                    <a:pt x="48387" y="1367663"/>
                  </a:lnTo>
                  <a:lnTo>
                    <a:pt x="26797" y="1354328"/>
                  </a:lnTo>
                  <a:lnTo>
                    <a:pt x="26797" y="1328928"/>
                  </a:lnTo>
                  <a:lnTo>
                    <a:pt x="4047236" y="1328928"/>
                  </a:lnTo>
                  <a:lnTo>
                    <a:pt x="4047236" y="1354328"/>
                  </a:lnTo>
                  <a:lnTo>
                    <a:pt x="4025646" y="1340993"/>
                  </a:lnTo>
                  <a:lnTo>
                    <a:pt x="4434840" y="676529"/>
                  </a:lnTo>
                  <a:lnTo>
                    <a:pt x="4456430" y="689864"/>
                  </a:lnTo>
                  <a:lnTo>
                    <a:pt x="4434840" y="703199"/>
                  </a:lnTo>
                  <a:lnTo>
                    <a:pt x="4025646" y="38735"/>
                  </a:lnTo>
                  <a:lnTo>
                    <a:pt x="4047236" y="25400"/>
                  </a:lnTo>
                  <a:lnTo>
                    <a:pt x="4047236" y="50800"/>
                  </a:lnTo>
                  <a:lnTo>
                    <a:pt x="26797" y="50800"/>
                  </a:lnTo>
                  <a:close/>
                </a:path>
              </a:pathLst>
            </a:custGeom>
            <a:solidFill>
              <a:srgbClr val="8B241D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4743070" y="2296410"/>
            <a:ext cx="2762334" cy="1034770"/>
            <a:chOff x="0" y="0"/>
            <a:chExt cx="3683112" cy="137969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83112" cy="1379694"/>
            </a:xfrm>
            <a:custGeom>
              <a:avLst/>
              <a:gdLst/>
              <a:ahLst/>
              <a:cxnLst/>
              <a:rect l="l" t="t" r="r" b="b"/>
              <a:pathLst>
                <a:path w="3683112" h="1379694">
                  <a:moveTo>
                    <a:pt x="0" y="0"/>
                  </a:moveTo>
                  <a:lnTo>
                    <a:pt x="3683112" y="0"/>
                  </a:lnTo>
                  <a:lnTo>
                    <a:pt x="3683112" y="1379694"/>
                  </a:lnTo>
                  <a:lnTo>
                    <a:pt x="0" y="13796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683112" cy="1417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36"/>
                </a:lnSpc>
              </a:pPr>
              <a:r>
                <a:rPr lang="en-US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 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47059" y="3522396"/>
            <a:ext cx="3061335" cy="5404858"/>
            <a:chOff x="0" y="0"/>
            <a:chExt cx="4081780" cy="7206478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4030980" cy="7155688"/>
            </a:xfrm>
            <a:custGeom>
              <a:avLst/>
              <a:gdLst/>
              <a:ahLst/>
              <a:cxnLst/>
              <a:rect l="l" t="t" r="r" b="b"/>
              <a:pathLst>
                <a:path w="4030980" h="7155688">
                  <a:moveTo>
                    <a:pt x="0" y="0"/>
                  </a:moveTo>
                  <a:lnTo>
                    <a:pt x="4030980" y="0"/>
                  </a:lnTo>
                  <a:lnTo>
                    <a:pt x="4030980" y="7155688"/>
                  </a:lnTo>
                  <a:lnTo>
                    <a:pt x="0" y="7155688"/>
                  </a:lnTo>
                  <a:close/>
                </a:path>
              </a:pathLst>
            </a:custGeom>
            <a:solidFill>
              <a:srgbClr val="DDD9CB">
                <a:alpha val="80784"/>
              </a:srgbClr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081780" cy="7206488"/>
            </a:xfrm>
            <a:custGeom>
              <a:avLst/>
              <a:gdLst/>
              <a:ahLst/>
              <a:cxnLst/>
              <a:rect l="l" t="t" r="r" b="b"/>
              <a:pathLst>
                <a:path w="4081780" h="7206488">
                  <a:moveTo>
                    <a:pt x="25400" y="0"/>
                  </a:moveTo>
                  <a:lnTo>
                    <a:pt x="4056380" y="0"/>
                  </a:lnTo>
                  <a:cubicBezTo>
                    <a:pt x="4070350" y="0"/>
                    <a:pt x="4081780" y="11430"/>
                    <a:pt x="4081780" y="25400"/>
                  </a:cubicBezTo>
                  <a:lnTo>
                    <a:pt x="4081780" y="7181088"/>
                  </a:lnTo>
                  <a:cubicBezTo>
                    <a:pt x="4081780" y="7195058"/>
                    <a:pt x="4070350" y="7206488"/>
                    <a:pt x="4056380" y="7206488"/>
                  </a:cubicBezTo>
                  <a:lnTo>
                    <a:pt x="25400" y="7206488"/>
                  </a:lnTo>
                  <a:cubicBezTo>
                    <a:pt x="11430" y="7206488"/>
                    <a:pt x="0" y="7195058"/>
                    <a:pt x="0" y="71810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181088"/>
                  </a:lnTo>
                  <a:lnTo>
                    <a:pt x="25400" y="7181088"/>
                  </a:lnTo>
                  <a:lnTo>
                    <a:pt x="25400" y="7155688"/>
                  </a:lnTo>
                  <a:lnTo>
                    <a:pt x="4056380" y="7155688"/>
                  </a:lnTo>
                  <a:lnTo>
                    <a:pt x="4056380" y="7181088"/>
                  </a:lnTo>
                  <a:lnTo>
                    <a:pt x="4030980" y="7181088"/>
                  </a:lnTo>
                  <a:lnTo>
                    <a:pt x="4030980" y="25400"/>
                  </a:lnTo>
                  <a:lnTo>
                    <a:pt x="4056380" y="25400"/>
                  </a:lnTo>
                  <a:lnTo>
                    <a:pt x="40563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DD9CB">
                <a:alpha val="80784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4447059" y="3522396"/>
            <a:ext cx="3061335" cy="5404858"/>
            <a:chOff x="0" y="0"/>
            <a:chExt cx="4081780" cy="720647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81780" cy="7206478"/>
            </a:xfrm>
            <a:custGeom>
              <a:avLst/>
              <a:gdLst/>
              <a:ahLst/>
              <a:cxnLst/>
              <a:rect l="l" t="t" r="r" b="b"/>
              <a:pathLst>
                <a:path w="4081780" h="7206478">
                  <a:moveTo>
                    <a:pt x="0" y="0"/>
                  </a:moveTo>
                  <a:lnTo>
                    <a:pt x="4081780" y="0"/>
                  </a:lnTo>
                  <a:lnTo>
                    <a:pt x="4081780" y="7206478"/>
                  </a:lnTo>
                  <a:lnTo>
                    <a:pt x="0" y="7206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081780" cy="723505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Dataset Collection and Pre-Processing</a:t>
              </a:r>
            </a:p>
            <a:p>
              <a:pPr algn="l">
                <a:lnSpc>
                  <a:spcPts val="2268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2" indent="-126682" algn="l">
                <a:lnSpc>
                  <a:spcPts val="2268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Select two real-world datasets related to cybersecurity domain.</a:t>
              </a:r>
            </a:p>
            <a:p>
              <a:pPr marL="380048" lvl="2" indent="-126682" algn="l">
                <a:lnSpc>
                  <a:spcPts val="2268"/>
                </a:lnSpc>
              </a:pPr>
              <a:endPara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2" indent="-126682" algn="l">
                <a:lnSpc>
                  <a:spcPts val="2268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Perform data preprocessing to fine tune the foundation model selected in Step 1</a:t>
              </a:r>
            </a:p>
            <a:p>
              <a:pPr marL="380048" lvl="2" indent="-126682" algn="l">
                <a:lnSpc>
                  <a:spcPts val="2268"/>
                </a:lnSpc>
              </a:pPr>
              <a:endPara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2" indent="-126682" algn="l">
                <a:lnSpc>
                  <a:spcPts val="2268"/>
                </a:lnSpc>
              </a:pPr>
              <a:endPara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2" indent="-126682" algn="l">
                <a:lnSpc>
                  <a:spcPts val="2268"/>
                </a:lnSpc>
              </a:pPr>
              <a:endPara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32064" y="2284341"/>
            <a:ext cx="3360336" cy="1034771"/>
            <a:chOff x="0" y="0"/>
            <a:chExt cx="4480448" cy="1379694"/>
          </a:xfrm>
        </p:grpSpPr>
        <p:sp>
          <p:nvSpPr>
            <p:cNvPr id="35" name="Freeform 35"/>
            <p:cNvSpPr/>
            <p:nvPr/>
          </p:nvSpPr>
          <p:spPr>
            <a:xfrm>
              <a:off x="25400" y="25400"/>
              <a:ext cx="4429633" cy="1328928"/>
            </a:xfrm>
            <a:custGeom>
              <a:avLst/>
              <a:gdLst/>
              <a:ahLst/>
              <a:cxnLst/>
              <a:rect l="l" t="t" r="r" b="b"/>
              <a:pathLst>
                <a:path w="4429633" h="1328928">
                  <a:moveTo>
                    <a:pt x="0" y="0"/>
                  </a:moveTo>
                  <a:lnTo>
                    <a:pt x="4020439" y="0"/>
                  </a:lnTo>
                  <a:lnTo>
                    <a:pt x="4429633" y="664464"/>
                  </a:lnTo>
                  <a:lnTo>
                    <a:pt x="4020439" y="1328928"/>
                  </a:lnTo>
                  <a:lnTo>
                    <a:pt x="0" y="1328928"/>
                  </a:lnTo>
                  <a:lnTo>
                    <a:pt x="409194" y="664464"/>
                  </a:lnTo>
                  <a:close/>
                </a:path>
              </a:pathLst>
            </a:custGeom>
            <a:solidFill>
              <a:srgbClr val="A33B15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-1397" y="0"/>
              <a:ext cx="4483100" cy="1379728"/>
            </a:xfrm>
            <a:custGeom>
              <a:avLst/>
              <a:gdLst/>
              <a:ahLst/>
              <a:cxnLst/>
              <a:rect l="l" t="t" r="r" b="b"/>
              <a:pathLst>
                <a:path w="4483100" h="1379728">
                  <a:moveTo>
                    <a:pt x="26797" y="0"/>
                  </a:moveTo>
                  <a:lnTo>
                    <a:pt x="4047236" y="0"/>
                  </a:lnTo>
                  <a:cubicBezTo>
                    <a:pt x="4055999" y="0"/>
                    <a:pt x="4064254" y="4572"/>
                    <a:pt x="4068826" y="12065"/>
                  </a:cubicBezTo>
                  <a:lnTo>
                    <a:pt x="4478020" y="676529"/>
                  </a:lnTo>
                  <a:cubicBezTo>
                    <a:pt x="4483100" y="684657"/>
                    <a:pt x="4483100" y="694944"/>
                    <a:pt x="4478020" y="703199"/>
                  </a:cubicBezTo>
                  <a:lnTo>
                    <a:pt x="4068826" y="1367663"/>
                  </a:lnTo>
                  <a:cubicBezTo>
                    <a:pt x="4064254" y="1375156"/>
                    <a:pt x="4055999" y="1379728"/>
                    <a:pt x="4047236" y="1379728"/>
                  </a:cubicBezTo>
                  <a:lnTo>
                    <a:pt x="26797" y="1379728"/>
                  </a:lnTo>
                  <a:cubicBezTo>
                    <a:pt x="17653" y="1379728"/>
                    <a:pt x="9144" y="1374775"/>
                    <a:pt x="4572" y="1366774"/>
                  </a:cubicBezTo>
                  <a:cubicBezTo>
                    <a:pt x="0" y="1358773"/>
                    <a:pt x="254" y="1348867"/>
                    <a:pt x="5080" y="1341120"/>
                  </a:cubicBezTo>
                  <a:lnTo>
                    <a:pt x="414401" y="676529"/>
                  </a:lnTo>
                  <a:lnTo>
                    <a:pt x="435991" y="689864"/>
                  </a:lnTo>
                  <a:lnTo>
                    <a:pt x="414401" y="703199"/>
                  </a:lnTo>
                  <a:lnTo>
                    <a:pt x="5207" y="38735"/>
                  </a:lnTo>
                  <a:cubicBezTo>
                    <a:pt x="381" y="30861"/>
                    <a:pt x="127" y="21082"/>
                    <a:pt x="4572" y="12954"/>
                  </a:cubicBezTo>
                  <a:cubicBezTo>
                    <a:pt x="9017" y="4826"/>
                    <a:pt x="17653" y="0"/>
                    <a:pt x="26797" y="0"/>
                  </a:cubicBezTo>
                  <a:moveTo>
                    <a:pt x="26797" y="50800"/>
                  </a:moveTo>
                  <a:lnTo>
                    <a:pt x="26797" y="25400"/>
                  </a:lnTo>
                  <a:lnTo>
                    <a:pt x="48387" y="12065"/>
                  </a:lnTo>
                  <a:lnTo>
                    <a:pt x="457581" y="676529"/>
                  </a:lnTo>
                  <a:cubicBezTo>
                    <a:pt x="462661" y="684657"/>
                    <a:pt x="462661" y="694944"/>
                    <a:pt x="457581" y="703199"/>
                  </a:cubicBezTo>
                  <a:lnTo>
                    <a:pt x="48387" y="1367663"/>
                  </a:lnTo>
                  <a:lnTo>
                    <a:pt x="26797" y="1354328"/>
                  </a:lnTo>
                  <a:lnTo>
                    <a:pt x="26797" y="1328928"/>
                  </a:lnTo>
                  <a:lnTo>
                    <a:pt x="4047236" y="1328928"/>
                  </a:lnTo>
                  <a:lnTo>
                    <a:pt x="4047236" y="1354328"/>
                  </a:lnTo>
                  <a:lnTo>
                    <a:pt x="4025646" y="1340993"/>
                  </a:lnTo>
                  <a:lnTo>
                    <a:pt x="4434840" y="676529"/>
                  </a:lnTo>
                  <a:lnTo>
                    <a:pt x="4456430" y="689864"/>
                  </a:lnTo>
                  <a:lnTo>
                    <a:pt x="4434840" y="703199"/>
                  </a:lnTo>
                  <a:lnTo>
                    <a:pt x="4025646" y="38735"/>
                  </a:lnTo>
                  <a:lnTo>
                    <a:pt x="4047236" y="25400"/>
                  </a:lnTo>
                  <a:lnTo>
                    <a:pt x="4047236" y="50800"/>
                  </a:lnTo>
                  <a:lnTo>
                    <a:pt x="26797" y="50800"/>
                  </a:lnTo>
                  <a:close/>
                </a:path>
              </a:pathLst>
            </a:custGeom>
            <a:solidFill>
              <a:srgbClr val="A33B15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7931066" y="2284341"/>
            <a:ext cx="2762334" cy="1034771"/>
            <a:chOff x="0" y="0"/>
            <a:chExt cx="3683112" cy="137969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83112" cy="1379694"/>
            </a:xfrm>
            <a:custGeom>
              <a:avLst/>
              <a:gdLst/>
              <a:ahLst/>
              <a:cxnLst/>
              <a:rect l="l" t="t" r="r" b="b"/>
              <a:pathLst>
                <a:path w="3683112" h="1379694">
                  <a:moveTo>
                    <a:pt x="0" y="0"/>
                  </a:moveTo>
                  <a:lnTo>
                    <a:pt x="3683112" y="0"/>
                  </a:lnTo>
                  <a:lnTo>
                    <a:pt x="3683112" y="1379694"/>
                  </a:lnTo>
                  <a:lnTo>
                    <a:pt x="0" y="13796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683112" cy="1417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36"/>
                </a:lnSpc>
              </a:pPr>
              <a:r>
                <a:rPr lang="en-US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 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87812" y="3522396"/>
            <a:ext cx="3061335" cy="5404858"/>
            <a:chOff x="0" y="0"/>
            <a:chExt cx="4081780" cy="7206478"/>
          </a:xfrm>
        </p:grpSpPr>
        <p:sp>
          <p:nvSpPr>
            <p:cNvPr id="41" name="Freeform 41"/>
            <p:cNvSpPr/>
            <p:nvPr/>
          </p:nvSpPr>
          <p:spPr>
            <a:xfrm>
              <a:off x="25400" y="25400"/>
              <a:ext cx="4030980" cy="7155688"/>
            </a:xfrm>
            <a:custGeom>
              <a:avLst/>
              <a:gdLst/>
              <a:ahLst/>
              <a:cxnLst/>
              <a:rect l="l" t="t" r="r" b="b"/>
              <a:pathLst>
                <a:path w="4030980" h="7155688">
                  <a:moveTo>
                    <a:pt x="0" y="0"/>
                  </a:moveTo>
                  <a:lnTo>
                    <a:pt x="4030980" y="0"/>
                  </a:lnTo>
                  <a:lnTo>
                    <a:pt x="4030980" y="7155688"/>
                  </a:lnTo>
                  <a:lnTo>
                    <a:pt x="0" y="7155688"/>
                  </a:lnTo>
                  <a:close/>
                </a:path>
              </a:pathLst>
            </a:custGeom>
            <a:solidFill>
              <a:srgbClr val="D7E4CB">
                <a:alpha val="80784"/>
              </a:srgbClr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4081780" cy="7206488"/>
            </a:xfrm>
            <a:custGeom>
              <a:avLst/>
              <a:gdLst/>
              <a:ahLst/>
              <a:cxnLst/>
              <a:rect l="l" t="t" r="r" b="b"/>
              <a:pathLst>
                <a:path w="4081780" h="7206488">
                  <a:moveTo>
                    <a:pt x="25400" y="0"/>
                  </a:moveTo>
                  <a:lnTo>
                    <a:pt x="4056380" y="0"/>
                  </a:lnTo>
                  <a:cubicBezTo>
                    <a:pt x="4070350" y="0"/>
                    <a:pt x="4081780" y="11430"/>
                    <a:pt x="4081780" y="25400"/>
                  </a:cubicBezTo>
                  <a:lnTo>
                    <a:pt x="4081780" y="7181088"/>
                  </a:lnTo>
                  <a:cubicBezTo>
                    <a:pt x="4081780" y="7195058"/>
                    <a:pt x="4070350" y="7206488"/>
                    <a:pt x="4056380" y="7206488"/>
                  </a:cubicBezTo>
                  <a:lnTo>
                    <a:pt x="25400" y="7206488"/>
                  </a:lnTo>
                  <a:cubicBezTo>
                    <a:pt x="11430" y="7206488"/>
                    <a:pt x="0" y="7195058"/>
                    <a:pt x="0" y="71810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181088"/>
                  </a:lnTo>
                  <a:lnTo>
                    <a:pt x="25400" y="7181088"/>
                  </a:lnTo>
                  <a:lnTo>
                    <a:pt x="25400" y="7155688"/>
                  </a:lnTo>
                  <a:lnTo>
                    <a:pt x="4056380" y="7155688"/>
                  </a:lnTo>
                  <a:lnTo>
                    <a:pt x="4056380" y="7181088"/>
                  </a:lnTo>
                  <a:lnTo>
                    <a:pt x="4030980" y="7181088"/>
                  </a:lnTo>
                  <a:lnTo>
                    <a:pt x="4030980" y="25400"/>
                  </a:lnTo>
                  <a:lnTo>
                    <a:pt x="4056380" y="25400"/>
                  </a:lnTo>
                  <a:lnTo>
                    <a:pt x="40563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7E4CB">
                <a:alpha val="80784"/>
              </a:srgbClr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7687812" y="3522396"/>
            <a:ext cx="3061335" cy="5404858"/>
            <a:chOff x="0" y="0"/>
            <a:chExt cx="4081780" cy="720647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081780" cy="7206478"/>
            </a:xfrm>
            <a:custGeom>
              <a:avLst/>
              <a:gdLst/>
              <a:ahLst/>
              <a:cxnLst/>
              <a:rect l="l" t="t" r="r" b="b"/>
              <a:pathLst>
                <a:path w="4081780" h="7206478">
                  <a:moveTo>
                    <a:pt x="0" y="0"/>
                  </a:moveTo>
                  <a:lnTo>
                    <a:pt x="4081780" y="0"/>
                  </a:lnTo>
                  <a:lnTo>
                    <a:pt x="4081780" y="7206478"/>
                  </a:lnTo>
                  <a:lnTo>
                    <a:pt x="0" y="7206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4081780" cy="723505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Fine Tune the Foundation Model</a:t>
              </a:r>
            </a:p>
            <a:p>
              <a:pPr algn="l">
                <a:lnSpc>
                  <a:spcPts val="2268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2" indent="-126682" algn="l">
                <a:lnSpc>
                  <a:spcPts val="2268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Fine tune the Foundation Model.</a:t>
              </a:r>
            </a:p>
            <a:p>
              <a:pPr marL="380048" lvl="2" indent="-126682" algn="l">
                <a:lnSpc>
                  <a:spcPts val="2268"/>
                </a:lnSpc>
              </a:pPr>
              <a:endPara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2" indent="-126682" algn="l">
                <a:lnSpc>
                  <a:spcPts val="2268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Determine efficiency and improve on the following metrics:</a:t>
              </a:r>
            </a:p>
            <a:p>
              <a:pPr marL="551498" lvl="3" indent="-137874" algn="l">
                <a:lnSpc>
                  <a:spcPts val="2268"/>
                </a:lnSpc>
                <a:buFont typeface="Arial"/>
                <a:buChar char="￭"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</a:p>
            <a:p>
              <a:pPr marL="551498" lvl="3" indent="-137874" algn="l">
                <a:lnSpc>
                  <a:spcPts val="2268"/>
                </a:lnSpc>
                <a:buFont typeface="Arial"/>
                <a:buChar char="￭"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Resource Utilization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807868" y="2272271"/>
            <a:ext cx="3360336" cy="1034770"/>
            <a:chOff x="0" y="0"/>
            <a:chExt cx="4480448" cy="1379694"/>
          </a:xfrm>
        </p:grpSpPr>
        <p:sp>
          <p:nvSpPr>
            <p:cNvPr id="47" name="Freeform 47"/>
            <p:cNvSpPr/>
            <p:nvPr/>
          </p:nvSpPr>
          <p:spPr>
            <a:xfrm>
              <a:off x="25400" y="25400"/>
              <a:ext cx="4429633" cy="1328928"/>
            </a:xfrm>
            <a:custGeom>
              <a:avLst/>
              <a:gdLst/>
              <a:ahLst/>
              <a:cxnLst/>
              <a:rect l="l" t="t" r="r" b="b"/>
              <a:pathLst>
                <a:path w="4429633" h="1328928">
                  <a:moveTo>
                    <a:pt x="0" y="0"/>
                  </a:moveTo>
                  <a:lnTo>
                    <a:pt x="4020439" y="0"/>
                  </a:lnTo>
                  <a:lnTo>
                    <a:pt x="4429633" y="664464"/>
                  </a:lnTo>
                  <a:lnTo>
                    <a:pt x="4020439" y="1328928"/>
                  </a:lnTo>
                  <a:lnTo>
                    <a:pt x="0" y="1328928"/>
                  </a:lnTo>
                  <a:lnTo>
                    <a:pt x="409194" y="664464"/>
                  </a:lnTo>
                  <a:close/>
                </a:path>
              </a:pathLst>
            </a:custGeom>
            <a:solidFill>
              <a:srgbClr val="BB5F0B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-1397" y="0"/>
              <a:ext cx="4483100" cy="1379728"/>
            </a:xfrm>
            <a:custGeom>
              <a:avLst/>
              <a:gdLst/>
              <a:ahLst/>
              <a:cxnLst/>
              <a:rect l="l" t="t" r="r" b="b"/>
              <a:pathLst>
                <a:path w="4483100" h="1379728">
                  <a:moveTo>
                    <a:pt x="26797" y="0"/>
                  </a:moveTo>
                  <a:lnTo>
                    <a:pt x="4047236" y="0"/>
                  </a:lnTo>
                  <a:cubicBezTo>
                    <a:pt x="4055999" y="0"/>
                    <a:pt x="4064254" y="4572"/>
                    <a:pt x="4068826" y="12065"/>
                  </a:cubicBezTo>
                  <a:lnTo>
                    <a:pt x="4478020" y="676529"/>
                  </a:lnTo>
                  <a:cubicBezTo>
                    <a:pt x="4483100" y="684657"/>
                    <a:pt x="4483100" y="694944"/>
                    <a:pt x="4478020" y="703199"/>
                  </a:cubicBezTo>
                  <a:lnTo>
                    <a:pt x="4068826" y="1367663"/>
                  </a:lnTo>
                  <a:cubicBezTo>
                    <a:pt x="4064254" y="1375156"/>
                    <a:pt x="4055999" y="1379728"/>
                    <a:pt x="4047236" y="1379728"/>
                  </a:cubicBezTo>
                  <a:lnTo>
                    <a:pt x="26797" y="1379728"/>
                  </a:lnTo>
                  <a:cubicBezTo>
                    <a:pt x="17653" y="1379728"/>
                    <a:pt x="9144" y="1374775"/>
                    <a:pt x="4572" y="1366774"/>
                  </a:cubicBezTo>
                  <a:cubicBezTo>
                    <a:pt x="0" y="1358773"/>
                    <a:pt x="254" y="1348867"/>
                    <a:pt x="5080" y="1341120"/>
                  </a:cubicBezTo>
                  <a:lnTo>
                    <a:pt x="414401" y="676529"/>
                  </a:lnTo>
                  <a:lnTo>
                    <a:pt x="435991" y="689864"/>
                  </a:lnTo>
                  <a:lnTo>
                    <a:pt x="414401" y="703199"/>
                  </a:lnTo>
                  <a:lnTo>
                    <a:pt x="5207" y="38735"/>
                  </a:lnTo>
                  <a:cubicBezTo>
                    <a:pt x="381" y="30861"/>
                    <a:pt x="127" y="21082"/>
                    <a:pt x="4572" y="12954"/>
                  </a:cubicBezTo>
                  <a:cubicBezTo>
                    <a:pt x="9017" y="4826"/>
                    <a:pt x="17653" y="0"/>
                    <a:pt x="26797" y="0"/>
                  </a:cubicBezTo>
                  <a:moveTo>
                    <a:pt x="26797" y="50800"/>
                  </a:moveTo>
                  <a:lnTo>
                    <a:pt x="26797" y="25400"/>
                  </a:lnTo>
                  <a:lnTo>
                    <a:pt x="48387" y="12065"/>
                  </a:lnTo>
                  <a:lnTo>
                    <a:pt x="457581" y="676529"/>
                  </a:lnTo>
                  <a:cubicBezTo>
                    <a:pt x="462661" y="684657"/>
                    <a:pt x="462661" y="694944"/>
                    <a:pt x="457581" y="703199"/>
                  </a:cubicBezTo>
                  <a:lnTo>
                    <a:pt x="48387" y="1367663"/>
                  </a:lnTo>
                  <a:lnTo>
                    <a:pt x="26797" y="1354328"/>
                  </a:lnTo>
                  <a:lnTo>
                    <a:pt x="26797" y="1328928"/>
                  </a:lnTo>
                  <a:lnTo>
                    <a:pt x="4047236" y="1328928"/>
                  </a:lnTo>
                  <a:lnTo>
                    <a:pt x="4047236" y="1354328"/>
                  </a:lnTo>
                  <a:lnTo>
                    <a:pt x="4025646" y="1340993"/>
                  </a:lnTo>
                  <a:lnTo>
                    <a:pt x="4434840" y="676529"/>
                  </a:lnTo>
                  <a:lnTo>
                    <a:pt x="4456430" y="689864"/>
                  </a:lnTo>
                  <a:lnTo>
                    <a:pt x="4434840" y="703199"/>
                  </a:lnTo>
                  <a:lnTo>
                    <a:pt x="4025646" y="38735"/>
                  </a:lnTo>
                  <a:lnTo>
                    <a:pt x="4047236" y="25400"/>
                  </a:lnTo>
                  <a:lnTo>
                    <a:pt x="4047236" y="50800"/>
                  </a:lnTo>
                  <a:lnTo>
                    <a:pt x="26797" y="50800"/>
                  </a:lnTo>
                  <a:close/>
                </a:path>
              </a:pathLst>
            </a:custGeom>
            <a:solidFill>
              <a:srgbClr val="BB5F0B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1106868" y="2272271"/>
            <a:ext cx="2762334" cy="1034770"/>
            <a:chOff x="0" y="0"/>
            <a:chExt cx="3683112" cy="137969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683112" cy="1379694"/>
            </a:xfrm>
            <a:custGeom>
              <a:avLst/>
              <a:gdLst/>
              <a:ahLst/>
              <a:cxnLst/>
              <a:rect l="l" t="t" r="r" b="b"/>
              <a:pathLst>
                <a:path w="3683112" h="1379694">
                  <a:moveTo>
                    <a:pt x="0" y="0"/>
                  </a:moveTo>
                  <a:lnTo>
                    <a:pt x="3683112" y="0"/>
                  </a:lnTo>
                  <a:lnTo>
                    <a:pt x="3683112" y="1379694"/>
                  </a:lnTo>
                  <a:lnTo>
                    <a:pt x="0" y="13796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3683112" cy="1417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36"/>
                </a:lnSpc>
              </a:pPr>
              <a:r>
                <a:rPr lang="en-US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 4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928564" y="3522396"/>
            <a:ext cx="3061335" cy="5404858"/>
            <a:chOff x="0" y="0"/>
            <a:chExt cx="4081780" cy="7206478"/>
          </a:xfrm>
        </p:grpSpPr>
        <p:sp>
          <p:nvSpPr>
            <p:cNvPr id="53" name="Freeform 53"/>
            <p:cNvSpPr/>
            <p:nvPr/>
          </p:nvSpPr>
          <p:spPr>
            <a:xfrm>
              <a:off x="25400" y="25400"/>
              <a:ext cx="4030980" cy="7155688"/>
            </a:xfrm>
            <a:custGeom>
              <a:avLst/>
              <a:gdLst/>
              <a:ahLst/>
              <a:cxnLst/>
              <a:rect l="l" t="t" r="r" b="b"/>
              <a:pathLst>
                <a:path w="4030980" h="7155688">
                  <a:moveTo>
                    <a:pt x="0" y="0"/>
                  </a:moveTo>
                  <a:lnTo>
                    <a:pt x="4030980" y="0"/>
                  </a:lnTo>
                  <a:lnTo>
                    <a:pt x="4030980" y="7155688"/>
                  </a:lnTo>
                  <a:lnTo>
                    <a:pt x="0" y="7155688"/>
                  </a:lnTo>
                  <a:close/>
                </a:path>
              </a:pathLst>
            </a:custGeom>
            <a:solidFill>
              <a:srgbClr val="CBEAD5">
                <a:alpha val="80784"/>
              </a:srgbClr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4081780" cy="7206488"/>
            </a:xfrm>
            <a:custGeom>
              <a:avLst/>
              <a:gdLst/>
              <a:ahLst/>
              <a:cxnLst/>
              <a:rect l="l" t="t" r="r" b="b"/>
              <a:pathLst>
                <a:path w="4081780" h="7206488">
                  <a:moveTo>
                    <a:pt x="25400" y="0"/>
                  </a:moveTo>
                  <a:lnTo>
                    <a:pt x="4056380" y="0"/>
                  </a:lnTo>
                  <a:cubicBezTo>
                    <a:pt x="4070350" y="0"/>
                    <a:pt x="4081780" y="11430"/>
                    <a:pt x="4081780" y="25400"/>
                  </a:cubicBezTo>
                  <a:lnTo>
                    <a:pt x="4081780" y="7181088"/>
                  </a:lnTo>
                  <a:cubicBezTo>
                    <a:pt x="4081780" y="7195058"/>
                    <a:pt x="4070350" y="7206488"/>
                    <a:pt x="4056380" y="7206488"/>
                  </a:cubicBezTo>
                  <a:lnTo>
                    <a:pt x="25400" y="7206488"/>
                  </a:lnTo>
                  <a:cubicBezTo>
                    <a:pt x="11430" y="7206488"/>
                    <a:pt x="0" y="7195058"/>
                    <a:pt x="0" y="71810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181088"/>
                  </a:lnTo>
                  <a:lnTo>
                    <a:pt x="25400" y="7181088"/>
                  </a:lnTo>
                  <a:lnTo>
                    <a:pt x="25400" y="7155688"/>
                  </a:lnTo>
                  <a:lnTo>
                    <a:pt x="4056380" y="7155688"/>
                  </a:lnTo>
                  <a:lnTo>
                    <a:pt x="4056380" y="7181088"/>
                  </a:lnTo>
                  <a:lnTo>
                    <a:pt x="4030980" y="7181088"/>
                  </a:lnTo>
                  <a:lnTo>
                    <a:pt x="4030980" y="25400"/>
                  </a:lnTo>
                  <a:lnTo>
                    <a:pt x="4056380" y="25400"/>
                  </a:lnTo>
                  <a:lnTo>
                    <a:pt x="40563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BEAD5">
                <a:alpha val="80784"/>
              </a:srgbClr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0928564" y="3522396"/>
            <a:ext cx="3061335" cy="5404858"/>
            <a:chOff x="0" y="0"/>
            <a:chExt cx="4081780" cy="720647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081780" cy="7206478"/>
            </a:xfrm>
            <a:custGeom>
              <a:avLst/>
              <a:gdLst/>
              <a:ahLst/>
              <a:cxnLst/>
              <a:rect l="l" t="t" r="r" b="b"/>
              <a:pathLst>
                <a:path w="4081780" h="7206478">
                  <a:moveTo>
                    <a:pt x="0" y="0"/>
                  </a:moveTo>
                  <a:lnTo>
                    <a:pt x="4081780" y="0"/>
                  </a:lnTo>
                  <a:lnTo>
                    <a:pt x="4081780" y="7206478"/>
                  </a:lnTo>
                  <a:lnTo>
                    <a:pt x="0" y="7206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4081780" cy="723505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Enhance explainability</a:t>
              </a:r>
            </a:p>
            <a:p>
              <a:pPr algn="l">
                <a:lnSpc>
                  <a:spcPts val="2268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268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268"/>
                </a:lnSpc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Implement mechanisms to enhance the transparency in decision making. 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048620" y="2272271"/>
            <a:ext cx="3360336" cy="1034770"/>
            <a:chOff x="0" y="0"/>
            <a:chExt cx="4480448" cy="1379694"/>
          </a:xfrm>
        </p:grpSpPr>
        <p:sp>
          <p:nvSpPr>
            <p:cNvPr id="59" name="Freeform 59"/>
            <p:cNvSpPr/>
            <p:nvPr/>
          </p:nvSpPr>
          <p:spPr>
            <a:xfrm>
              <a:off x="25400" y="25400"/>
              <a:ext cx="4429633" cy="1328928"/>
            </a:xfrm>
            <a:custGeom>
              <a:avLst/>
              <a:gdLst/>
              <a:ahLst/>
              <a:cxnLst/>
              <a:rect l="l" t="t" r="r" b="b"/>
              <a:pathLst>
                <a:path w="4429633" h="1328928">
                  <a:moveTo>
                    <a:pt x="0" y="0"/>
                  </a:moveTo>
                  <a:lnTo>
                    <a:pt x="4020439" y="0"/>
                  </a:lnTo>
                  <a:lnTo>
                    <a:pt x="4429633" y="664464"/>
                  </a:lnTo>
                  <a:lnTo>
                    <a:pt x="4020439" y="1328928"/>
                  </a:lnTo>
                  <a:lnTo>
                    <a:pt x="0" y="1328928"/>
                  </a:lnTo>
                  <a:lnTo>
                    <a:pt x="409194" y="664464"/>
                  </a:lnTo>
                  <a:close/>
                </a:path>
              </a:pathLst>
            </a:custGeom>
            <a:solidFill>
              <a:srgbClr val="D69200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-1397" y="0"/>
              <a:ext cx="4483100" cy="1379728"/>
            </a:xfrm>
            <a:custGeom>
              <a:avLst/>
              <a:gdLst/>
              <a:ahLst/>
              <a:cxnLst/>
              <a:rect l="l" t="t" r="r" b="b"/>
              <a:pathLst>
                <a:path w="4483100" h="1379728">
                  <a:moveTo>
                    <a:pt x="26797" y="0"/>
                  </a:moveTo>
                  <a:lnTo>
                    <a:pt x="4047236" y="0"/>
                  </a:lnTo>
                  <a:cubicBezTo>
                    <a:pt x="4055999" y="0"/>
                    <a:pt x="4064254" y="4572"/>
                    <a:pt x="4068826" y="12065"/>
                  </a:cubicBezTo>
                  <a:lnTo>
                    <a:pt x="4478020" y="676529"/>
                  </a:lnTo>
                  <a:cubicBezTo>
                    <a:pt x="4483100" y="684657"/>
                    <a:pt x="4483100" y="694944"/>
                    <a:pt x="4478020" y="703199"/>
                  </a:cubicBezTo>
                  <a:lnTo>
                    <a:pt x="4068826" y="1367663"/>
                  </a:lnTo>
                  <a:cubicBezTo>
                    <a:pt x="4064254" y="1375156"/>
                    <a:pt x="4055999" y="1379728"/>
                    <a:pt x="4047236" y="1379728"/>
                  </a:cubicBezTo>
                  <a:lnTo>
                    <a:pt x="26797" y="1379728"/>
                  </a:lnTo>
                  <a:cubicBezTo>
                    <a:pt x="17653" y="1379728"/>
                    <a:pt x="9144" y="1374775"/>
                    <a:pt x="4572" y="1366774"/>
                  </a:cubicBezTo>
                  <a:cubicBezTo>
                    <a:pt x="0" y="1358773"/>
                    <a:pt x="254" y="1348867"/>
                    <a:pt x="5080" y="1341120"/>
                  </a:cubicBezTo>
                  <a:lnTo>
                    <a:pt x="414401" y="676529"/>
                  </a:lnTo>
                  <a:lnTo>
                    <a:pt x="435991" y="689864"/>
                  </a:lnTo>
                  <a:lnTo>
                    <a:pt x="414401" y="703199"/>
                  </a:lnTo>
                  <a:lnTo>
                    <a:pt x="5207" y="38735"/>
                  </a:lnTo>
                  <a:cubicBezTo>
                    <a:pt x="381" y="30861"/>
                    <a:pt x="127" y="21082"/>
                    <a:pt x="4572" y="12954"/>
                  </a:cubicBezTo>
                  <a:cubicBezTo>
                    <a:pt x="9017" y="4826"/>
                    <a:pt x="17653" y="0"/>
                    <a:pt x="26797" y="0"/>
                  </a:cubicBezTo>
                  <a:moveTo>
                    <a:pt x="26797" y="50800"/>
                  </a:moveTo>
                  <a:lnTo>
                    <a:pt x="26797" y="25400"/>
                  </a:lnTo>
                  <a:lnTo>
                    <a:pt x="48387" y="12065"/>
                  </a:lnTo>
                  <a:lnTo>
                    <a:pt x="457581" y="676529"/>
                  </a:lnTo>
                  <a:cubicBezTo>
                    <a:pt x="462661" y="684657"/>
                    <a:pt x="462661" y="694944"/>
                    <a:pt x="457581" y="703199"/>
                  </a:cubicBezTo>
                  <a:lnTo>
                    <a:pt x="48387" y="1367663"/>
                  </a:lnTo>
                  <a:lnTo>
                    <a:pt x="26797" y="1354328"/>
                  </a:lnTo>
                  <a:lnTo>
                    <a:pt x="26797" y="1328928"/>
                  </a:lnTo>
                  <a:lnTo>
                    <a:pt x="4047236" y="1328928"/>
                  </a:lnTo>
                  <a:lnTo>
                    <a:pt x="4047236" y="1354328"/>
                  </a:lnTo>
                  <a:lnTo>
                    <a:pt x="4025646" y="1340993"/>
                  </a:lnTo>
                  <a:lnTo>
                    <a:pt x="4434840" y="676529"/>
                  </a:lnTo>
                  <a:lnTo>
                    <a:pt x="4456430" y="689864"/>
                  </a:lnTo>
                  <a:lnTo>
                    <a:pt x="4434840" y="703199"/>
                  </a:lnTo>
                  <a:lnTo>
                    <a:pt x="4025646" y="38735"/>
                  </a:lnTo>
                  <a:lnTo>
                    <a:pt x="4047236" y="25400"/>
                  </a:lnTo>
                  <a:lnTo>
                    <a:pt x="4047236" y="50800"/>
                  </a:lnTo>
                  <a:lnTo>
                    <a:pt x="26797" y="50800"/>
                  </a:lnTo>
                  <a:close/>
                </a:path>
              </a:pathLst>
            </a:custGeom>
            <a:solidFill>
              <a:srgbClr val="D69200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4347622" y="2272271"/>
            <a:ext cx="2762334" cy="1034770"/>
            <a:chOff x="0" y="0"/>
            <a:chExt cx="3683112" cy="137969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683112" cy="1379694"/>
            </a:xfrm>
            <a:custGeom>
              <a:avLst/>
              <a:gdLst/>
              <a:ahLst/>
              <a:cxnLst/>
              <a:rect l="l" t="t" r="r" b="b"/>
              <a:pathLst>
                <a:path w="3683112" h="1379694">
                  <a:moveTo>
                    <a:pt x="0" y="0"/>
                  </a:moveTo>
                  <a:lnTo>
                    <a:pt x="3683112" y="0"/>
                  </a:lnTo>
                  <a:lnTo>
                    <a:pt x="3683112" y="1379694"/>
                  </a:lnTo>
                  <a:lnTo>
                    <a:pt x="0" y="13796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3683112" cy="1417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36"/>
                </a:lnSpc>
              </a:pPr>
              <a:r>
                <a:rPr lang="en-US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 5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169316" y="3522396"/>
            <a:ext cx="3061335" cy="5404858"/>
            <a:chOff x="0" y="0"/>
            <a:chExt cx="4081780" cy="7206478"/>
          </a:xfrm>
        </p:grpSpPr>
        <p:sp>
          <p:nvSpPr>
            <p:cNvPr id="65" name="Freeform 65"/>
            <p:cNvSpPr/>
            <p:nvPr/>
          </p:nvSpPr>
          <p:spPr>
            <a:xfrm>
              <a:off x="25400" y="25400"/>
              <a:ext cx="4030980" cy="7155688"/>
            </a:xfrm>
            <a:custGeom>
              <a:avLst/>
              <a:gdLst/>
              <a:ahLst/>
              <a:cxnLst/>
              <a:rect l="l" t="t" r="r" b="b"/>
              <a:pathLst>
                <a:path w="4030980" h="7155688">
                  <a:moveTo>
                    <a:pt x="0" y="0"/>
                  </a:moveTo>
                  <a:lnTo>
                    <a:pt x="4030980" y="0"/>
                  </a:lnTo>
                  <a:lnTo>
                    <a:pt x="4030980" y="7155688"/>
                  </a:lnTo>
                  <a:lnTo>
                    <a:pt x="0" y="7155688"/>
                  </a:lnTo>
                  <a:close/>
                </a:path>
              </a:pathLst>
            </a:custGeom>
            <a:solidFill>
              <a:srgbClr val="CBEBF0">
                <a:alpha val="80784"/>
              </a:srgbClr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4081780" cy="7206488"/>
            </a:xfrm>
            <a:custGeom>
              <a:avLst/>
              <a:gdLst/>
              <a:ahLst/>
              <a:cxnLst/>
              <a:rect l="l" t="t" r="r" b="b"/>
              <a:pathLst>
                <a:path w="4081780" h="7206488">
                  <a:moveTo>
                    <a:pt x="25400" y="0"/>
                  </a:moveTo>
                  <a:lnTo>
                    <a:pt x="4056380" y="0"/>
                  </a:lnTo>
                  <a:cubicBezTo>
                    <a:pt x="4070350" y="0"/>
                    <a:pt x="4081780" y="11430"/>
                    <a:pt x="4081780" y="25400"/>
                  </a:cubicBezTo>
                  <a:lnTo>
                    <a:pt x="4081780" y="7181088"/>
                  </a:lnTo>
                  <a:cubicBezTo>
                    <a:pt x="4081780" y="7195058"/>
                    <a:pt x="4070350" y="7206488"/>
                    <a:pt x="4056380" y="7206488"/>
                  </a:cubicBezTo>
                  <a:lnTo>
                    <a:pt x="25400" y="7206488"/>
                  </a:lnTo>
                  <a:cubicBezTo>
                    <a:pt x="11430" y="7206488"/>
                    <a:pt x="0" y="7195058"/>
                    <a:pt x="0" y="71810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181088"/>
                  </a:lnTo>
                  <a:lnTo>
                    <a:pt x="25400" y="7181088"/>
                  </a:lnTo>
                  <a:lnTo>
                    <a:pt x="25400" y="7155688"/>
                  </a:lnTo>
                  <a:lnTo>
                    <a:pt x="4056380" y="7155688"/>
                  </a:lnTo>
                  <a:lnTo>
                    <a:pt x="4056380" y="7181088"/>
                  </a:lnTo>
                  <a:lnTo>
                    <a:pt x="4030980" y="7181088"/>
                  </a:lnTo>
                  <a:lnTo>
                    <a:pt x="4030980" y="25400"/>
                  </a:lnTo>
                  <a:lnTo>
                    <a:pt x="4056380" y="25400"/>
                  </a:lnTo>
                  <a:lnTo>
                    <a:pt x="40563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BEBF0">
                <a:alpha val="80784"/>
              </a:srgbClr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4169316" y="3522396"/>
            <a:ext cx="3061335" cy="5404858"/>
            <a:chOff x="0" y="0"/>
            <a:chExt cx="4081780" cy="720647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081780" cy="7206478"/>
            </a:xfrm>
            <a:custGeom>
              <a:avLst/>
              <a:gdLst/>
              <a:ahLst/>
              <a:cxnLst/>
              <a:rect l="l" t="t" r="r" b="b"/>
              <a:pathLst>
                <a:path w="4081780" h="7206478">
                  <a:moveTo>
                    <a:pt x="0" y="0"/>
                  </a:moveTo>
                  <a:lnTo>
                    <a:pt x="4081780" y="0"/>
                  </a:lnTo>
                  <a:lnTo>
                    <a:pt x="4081780" y="7206478"/>
                  </a:lnTo>
                  <a:lnTo>
                    <a:pt x="0" y="7206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4081780" cy="723505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Comparison</a:t>
              </a:r>
            </a:p>
            <a:p>
              <a:pPr algn="l">
                <a:lnSpc>
                  <a:spcPts val="2268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268"/>
                </a:lnSpc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Compare the results with traditional anomaly detection methods as well as State-of-The-Art methods. </a:t>
              </a:r>
            </a:p>
            <a:p>
              <a:pPr algn="l">
                <a:lnSpc>
                  <a:spcPts val="2430"/>
                </a:lnSpc>
              </a:pPr>
              <a:r>
                <a:rPr lang="en-US" sz="22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  <a:p>
              <a:pPr algn="l">
                <a:lnSpc>
                  <a:spcPts val="2268"/>
                </a:lnSpc>
              </a:pPr>
              <a:endPara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268"/>
                </a:lnSpc>
              </a:pPr>
              <a:endPara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268"/>
                </a:lnSpc>
              </a:pPr>
              <a:endPara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80000" y="1218628"/>
            <a:ext cx="9141567" cy="877162"/>
            <a:chOff x="0" y="0"/>
            <a:chExt cx="12188756" cy="116955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2188756" cy="1169550"/>
            </a:xfrm>
            <a:custGeom>
              <a:avLst/>
              <a:gdLst/>
              <a:ahLst/>
              <a:cxnLst/>
              <a:rect l="l" t="t" r="r" b="b"/>
              <a:pathLst>
                <a:path w="12188756" h="1169550">
                  <a:moveTo>
                    <a:pt x="0" y="0"/>
                  </a:moveTo>
                  <a:lnTo>
                    <a:pt x="12188756" y="0"/>
                  </a:lnTo>
                  <a:lnTo>
                    <a:pt x="12188756" y="1169550"/>
                  </a:lnTo>
                  <a:lnTo>
                    <a:pt x="0" y="1169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0"/>
              <a:ext cx="12188756" cy="1264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Method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11957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39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 (Aurelio Ribiero)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000" y="2430000"/>
            <a:ext cx="16200002" cy="6788944"/>
            <a:chOff x="0" y="0"/>
            <a:chExt cx="21600002" cy="9051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0002" cy="9051926"/>
            </a:xfrm>
            <a:custGeom>
              <a:avLst/>
              <a:gdLst/>
              <a:ahLst/>
              <a:cxnLst/>
              <a:rect l="l" t="t" r="r" b="b"/>
              <a:pathLst>
                <a:path w="21600002" h="9051926">
                  <a:moveTo>
                    <a:pt x="0" y="0"/>
                  </a:moveTo>
                  <a:lnTo>
                    <a:pt x="21600002" y="0"/>
                  </a:lnTo>
                  <a:lnTo>
                    <a:pt x="21600002" y="9051926"/>
                  </a:lnTo>
                  <a:lnTo>
                    <a:pt x="0" y="9051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80975"/>
              <a:ext cx="21600002" cy="923290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030129" lvl="1" indent="-515064" algn="just">
                <a:lnSpc>
                  <a:spcPts val="4617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Aurelio has contributed to the project proposal by performing the following tasks:</a:t>
              </a:r>
            </a:p>
            <a:p>
              <a:pPr marL="2175986" lvl="2" indent="-72532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Determining the research problem and research methodology.</a:t>
              </a:r>
            </a:p>
            <a:p>
              <a:pPr marL="2175986" lvl="2" indent="-72532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Developing a timeline for the project.</a:t>
              </a:r>
            </a:p>
            <a:p>
              <a:pPr marL="1030129" lvl="1" indent="-515064" algn="just">
                <a:lnSpc>
                  <a:spcPts val="4617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Aurelio will be contributing to the following parts during the project:</a:t>
              </a:r>
            </a:p>
            <a:p>
              <a:pPr marL="2175986" lvl="2" indent="-72532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Identifying the datasets to be used while developing the anomaly detection model.</a:t>
              </a:r>
            </a:p>
            <a:p>
              <a:pPr marL="2175986" lvl="2" indent="-72532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Conduct appropriate data-preprocessing to ensure that the selected datasets are ready to be used.</a:t>
              </a:r>
            </a:p>
            <a:p>
              <a:pPr marL="2175986" lvl="2" indent="-72532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Fine tune the selected Foundation Model to develop an anomaly detection model that supports multiple data types while enhance efficiency and accuracy.</a:t>
              </a:r>
            </a:p>
            <a:p>
              <a:pPr marL="2175986" lvl="2" indent="-725329" algn="just">
                <a:lnSpc>
                  <a:spcPts val="4131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Compare and analyse the results obtained with traditional and state-of-the-art anomaly detection methods.</a:t>
              </a:r>
            </a:p>
            <a:p>
              <a:pPr marL="2175986" lvl="2" indent="-725329" algn="just">
                <a:lnSpc>
                  <a:spcPts val="4131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5986" lvl="2" indent="-725329" algn="just">
                <a:lnSpc>
                  <a:spcPts val="306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5986" lvl="2" indent="-725329" algn="just">
                <a:lnSpc>
                  <a:spcPts val="306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3707" y="9571993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11957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39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 (Chris Crasto Paschol)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000" y="2430000"/>
            <a:ext cx="16200002" cy="6788944"/>
            <a:chOff x="0" y="0"/>
            <a:chExt cx="21600002" cy="9051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0002" cy="9051926"/>
            </a:xfrm>
            <a:custGeom>
              <a:avLst/>
              <a:gdLst/>
              <a:ahLst/>
              <a:cxnLst/>
              <a:rect l="l" t="t" r="r" b="b"/>
              <a:pathLst>
                <a:path w="21600002" h="9051926">
                  <a:moveTo>
                    <a:pt x="0" y="0"/>
                  </a:moveTo>
                  <a:lnTo>
                    <a:pt x="21600002" y="0"/>
                  </a:lnTo>
                  <a:lnTo>
                    <a:pt x="21600002" y="9051926"/>
                  </a:lnTo>
                  <a:lnTo>
                    <a:pt x="0" y="9051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21600002" cy="917575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040309" lvl="1" indent="-520154" algn="just">
                <a:lnSpc>
                  <a:spcPts val="4185"/>
                </a:lnSpc>
                <a:buFont typeface="Arial"/>
                <a:buChar char="•"/>
              </a:pPr>
              <a:r>
                <a:rPr lang="en-US" sz="290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Chris has contributed to the project proposal by performing the following tasks:</a:t>
              </a:r>
            </a:p>
            <a:p>
              <a:pPr marL="2177344" lvl="2" indent="-725781" algn="just">
                <a:lnSpc>
                  <a:spcPts val="3682"/>
                </a:lnSpc>
                <a:buFont typeface="Arial"/>
                <a:buChar char="⚬"/>
              </a:pPr>
              <a:r>
                <a:rPr lang="en-US" sz="25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Determining the Big Picture of the project.</a:t>
              </a:r>
            </a:p>
            <a:p>
              <a:pPr marL="2177344" lvl="2" indent="-725781" algn="just">
                <a:lnSpc>
                  <a:spcPts val="3682"/>
                </a:lnSpc>
                <a:buFont typeface="Arial"/>
                <a:buChar char="⚬"/>
              </a:pPr>
              <a:r>
                <a:rPr lang="en-US" sz="25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This includes Vision, Aim, Objective and Goals.</a:t>
              </a:r>
            </a:p>
            <a:p>
              <a:pPr marL="1040309" lvl="1" indent="-520154" algn="just">
                <a:lnSpc>
                  <a:spcPts val="4185"/>
                </a:lnSpc>
                <a:buFont typeface="Arial"/>
                <a:buChar char="•"/>
              </a:pPr>
              <a:r>
                <a:rPr lang="en-US" sz="290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Chris will be contributing to the following parts during the project:</a:t>
              </a:r>
            </a:p>
            <a:p>
              <a:pPr marL="2177344" lvl="2" indent="-725781" algn="just">
                <a:lnSpc>
                  <a:spcPts val="3682"/>
                </a:lnSpc>
                <a:buFont typeface="Arial"/>
                <a:buChar char="⚬"/>
              </a:pPr>
              <a:r>
                <a:rPr lang="en-US" sz="25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Conducting a literature review on existing Anomaly Detection methods to better understand the problem statement.</a:t>
              </a:r>
            </a:p>
            <a:p>
              <a:pPr marL="2177344" lvl="2" indent="-725781" algn="just">
                <a:lnSpc>
                  <a:spcPts val="3682"/>
                </a:lnSpc>
                <a:buFont typeface="Arial"/>
                <a:buChar char="⚬"/>
              </a:pPr>
              <a:r>
                <a:rPr lang="en-US" sz="25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Based on the literature review, select a Foundation Model to be used in Anomaly Detection.</a:t>
              </a:r>
            </a:p>
            <a:p>
              <a:pPr marL="2177344" lvl="2" indent="-725781" algn="just">
                <a:lnSpc>
                  <a:spcPts val="3682"/>
                </a:lnSpc>
                <a:buFont typeface="Arial"/>
                <a:buChar char="⚬"/>
              </a:pPr>
              <a:r>
                <a:rPr lang="en-US" sz="25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Compare and analyse the results obtained with traditional and state-of-the-art anomaly detection methods.</a:t>
              </a:r>
            </a:p>
            <a:p>
              <a:pPr marL="2177344" lvl="2" indent="-725781" algn="just">
                <a:lnSpc>
                  <a:spcPts val="3682"/>
                </a:lnSpc>
                <a:buFont typeface="Arial"/>
                <a:buChar char="⚬"/>
              </a:pPr>
              <a:r>
                <a:rPr lang="en-US" sz="25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Draft final reports and documentations.</a:t>
              </a:r>
            </a:p>
            <a:p>
              <a:pPr marL="2177344" lvl="2" indent="-725781" algn="just">
                <a:lnSpc>
                  <a:spcPts val="3069"/>
                </a:lnSpc>
              </a:pPr>
              <a:endParaRPr lang="en-US" sz="25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7344" lvl="2" indent="-725781" algn="just">
                <a:lnSpc>
                  <a:spcPts val="3069"/>
                </a:lnSpc>
              </a:pPr>
              <a:endParaRPr lang="en-US" sz="25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7344" lvl="2" indent="-725781" algn="just">
                <a:lnSpc>
                  <a:spcPts val="3069"/>
                </a:lnSpc>
              </a:pPr>
              <a:endParaRPr lang="en-US" sz="25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3707" y="9571993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11957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39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 (Sachin Byanju)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000" y="2430000"/>
            <a:ext cx="16200002" cy="6788944"/>
            <a:chOff x="0" y="0"/>
            <a:chExt cx="21600002" cy="9051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0002" cy="9051926"/>
            </a:xfrm>
            <a:custGeom>
              <a:avLst/>
              <a:gdLst/>
              <a:ahLst/>
              <a:cxnLst/>
              <a:rect l="l" t="t" r="r" b="b"/>
              <a:pathLst>
                <a:path w="21600002" h="9051926">
                  <a:moveTo>
                    <a:pt x="0" y="0"/>
                  </a:moveTo>
                  <a:lnTo>
                    <a:pt x="21600002" y="0"/>
                  </a:lnTo>
                  <a:lnTo>
                    <a:pt x="21600002" y="9051926"/>
                  </a:lnTo>
                  <a:lnTo>
                    <a:pt x="0" y="9051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28600"/>
              <a:ext cx="21600002" cy="92805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030129" lvl="1" indent="-515064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Sachin has contributed to the project proposal by performing the following tasks: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Determining the research problem.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Determining the research methodology.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Preparing the presentation sides.</a:t>
              </a:r>
            </a:p>
            <a:p>
              <a:pPr marL="1030129" lvl="1" indent="-515064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Sachin will be contributing to the following parts during the project: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Conducting a literature review on existing Anomaly Detection methods to better understand the problem statement.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Based on the literature review, select a Foundation Model to be used in Anomaly Detection.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Conduct appropriate data-preprocessing to ensure that the selected datasets are ready to be used.</a:t>
              </a:r>
            </a:p>
            <a:p>
              <a:pPr marL="2175986" lvl="2" indent="-725329" algn="just">
                <a:lnSpc>
                  <a:spcPts val="459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5986" lvl="2" indent="-725329" algn="just">
                <a:lnSpc>
                  <a:spcPts val="459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5986" lvl="2" indent="-725329" algn="just">
                <a:lnSpc>
                  <a:spcPts val="459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3707" y="9580894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11957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39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 (Saksham Khatiwada)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000" y="2430000"/>
            <a:ext cx="16200002" cy="6788944"/>
            <a:chOff x="0" y="0"/>
            <a:chExt cx="21600002" cy="9051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0002" cy="9051926"/>
            </a:xfrm>
            <a:custGeom>
              <a:avLst/>
              <a:gdLst/>
              <a:ahLst/>
              <a:cxnLst/>
              <a:rect l="l" t="t" r="r" b="b"/>
              <a:pathLst>
                <a:path w="21600002" h="9051926">
                  <a:moveTo>
                    <a:pt x="0" y="0"/>
                  </a:moveTo>
                  <a:lnTo>
                    <a:pt x="21600002" y="0"/>
                  </a:lnTo>
                  <a:lnTo>
                    <a:pt x="21600002" y="9051926"/>
                  </a:lnTo>
                  <a:lnTo>
                    <a:pt x="0" y="9051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28600"/>
              <a:ext cx="21600002" cy="92805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030129" lvl="1" indent="-515064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Saksham has contributed to the project proposal by performing the following tasks: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Determining the expected outcome and significance.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Preparing the presentation sides.</a:t>
              </a:r>
            </a:p>
            <a:p>
              <a:pPr marL="1030129" lvl="1" indent="-515064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Saksham will be contributing to the following parts during the project: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Conducting a literature review on existing Anomaly Detection methods to better understand the problem statement.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Based on the literature review, select a Foundation Model to be used in Anomaly Detection.</a:t>
              </a:r>
            </a:p>
            <a:p>
              <a:pPr marL="2175986" lvl="2" indent="-72532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Draft final reports and documentations.</a:t>
              </a:r>
            </a:p>
            <a:p>
              <a:pPr marL="2175986" lvl="2" indent="-725329" algn="just">
                <a:lnSpc>
                  <a:spcPts val="459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5986" lvl="2" indent="-725329" algn="just">
                <a:lnSpc>
                  <a:spcPts val="459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5986" lvl="2" indent="-725329" algn="just">
                <a:lnSpc>
                  <a:spcPts val="459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3707" y="9403660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11957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39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 (Sanam Ghimire)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000" y="2151531"/>
            <a:ext cx="16200002" cy="7067415"/>
            <a:chOff x="0" y="0"/>
            <a:chExt cx="21600002" cy="94232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0002" cy="9423220"/>
            </a:xfrm>
            <a:custGeom>
              <a:avLst/>
              <a:gdLst/>
              <a:ahLst/>
              <a:cxnLst/>
              <a:rect l="l" t="t" r="r" b="b"/>
              <a:pathLst>
                <a:path w="21600002" h="9423220">
                  <a:moveTo>
                    <a:pt x="0" y="0"/>
                  </a:moveTo>
                  <a:lnTo>
                    <a:pt x="21600002" y="0"/>
                  </a:lnTo>
                  <a:lnTo>
                    <a:pt x="21600002" y="9423220"/>
                  </a:lnTo>
                  <a:lnTo>
                    <a:pt x="0" y="9423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21600002" cy="95470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021985" lvl="1" indent="-510992" algn="just">
                <a:lnSpc>
                  <a:spcPts val="4039"/>
                </a:lnSpc>
                <a:buFont typeface="Arial"/>
                <a:buChar char="•"/>
              </a:pPr>
              <a:r>
                <a:rPr lang="en-US" sz="280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Sanam has contributed to the project proposal by performing the following tasks:</a:t>
              </a:r>
            </a:p>
            <a:p>
              <a:pPr marL="2175986" lvl="2" indent="-725329" algn="just">
                <a:lnSpc>
                  <a:spcPts val="3672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Determining the expected outcome and significance.</a:t>
              </a:r>
            </a:p>
            <a:p>
              <a:pPr marL="2175986" lvl="2" indent="-725329" algn="just">
                <a:lnSpc>
                  <a:spcPts val="3672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Draft member contributions.</a:t>
              </a:r>
            </a:p>
            <a:p>
              <a:pPr marL="2175986" lvl="2" indent="-725329" algn="just">
                <a:lnSpc>
                  <a:spcPts val="3672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Providing feedback on the presentation slides.</a:t>
              </a:r>
            </a:p>
            <a:p>
              <a:pPr marL="1021985" lvl="1" indent="-510992" algn="just">
                <a:lnSpc>
                  <a:spcPts val="4039"/>
                </a:lnSpc>
                <a:buFont typeface="Arial"/>
                <a:buChar char="•"/>
              </a:pPr>
              <a:r>
                <a:rPr lang="en-US" sz="280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Sanam will be contributing to the following parts during the project:</a:t>
              </a:r>
            </a:p>
            <a:p>
              <a:pPr marL="2175986" lvl="2" indent="-725329" algn="just">
                <a:lnSpc>
                  <a:spcPts val="3672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Conduct appropriate data-preprocessing to ensure that the selected datasets are ready to be used.</a:t>
              </a:r>
            </a:p>
            <a:p>
              <a:pPr marL="2175986" lvl="2" indent="-725329" algn="just">
                <a:lnSpc>
                  <a:spcPts val="3672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Fine tune the selected Foundation Model to develop an anomaly detection model that supports multiple data types while enhance efficiency and accuracy.</a:t>
              </a:r>
            </a:p>
            <a:p>
              <a:pPr marL="2175986" lvl="2" indent="-725329" algn="just">
                <a:lnSpc>
                  <a:spcPts val="3672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Compare and analyse the results obtained with traditional and state-of-the-art anomaly detection methods.</a:t>
              </a:r>
            </a:p>
            <a:p>
              <a:pPr marL="2175986" lvl="2" indent="-725329" algn="just">
                <a:lnSpc>
                  <a:spcPts val="3672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Draft final reports and documentations.</a:t>
              </a:r>
            </a:p>
            <a:p>
              <a:pPr marL="2175986" lvl="2" indent="-725329" algn="just">
                <a:lnSpc>
                  <a:spcPts val="306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5986" lvl="2" indent="-725329" algn="just">
                <a:lnSpc>
                  <a:spcPts val="306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75986" lvl="2" indent="-725329" algn="just">
                <a:lnSpc>
                  <a:spcPts val="306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3707" y="9571993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79194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39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Expected Outcomes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000" y="2430000"/>
            <a:ext cx="16200002" cy="6788944"/>
            <a:chOff x="0" y="0"/>
            <a:chExt cx="21600002" cy="9051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0002" cy="9051926"/>
            </a:xfrm>
            <a:custGeom>
              <a:avLst/>
              <a:gdLst/>
              <a:ahLst/>
              <a:cxnLst/>
              <a:rect l="l" t="t" r="r" b="b"/>
              <a:pathLst>
                <a:path w="21600002" h="9051926">
                  <a:moveTo>
                    <a:pt x="0" y="0"/>
                  </a:moveTo>
                  <a:lnTo>
                    <a:pt x="21600002" y="0"/>
                  </a:lnTo>
                  <a:lnTo>
                    <a:pt x="21600002" y="9051926"/>
                  </a:lnTo>
                  <a:lnTo>
                    <a:pt x="0" y="9051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21600002" cy="92043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52762" lvl="1" indent="-476381" algn="just">
                <a:lnSpc>
                  <a:spcPts val="3924"/>
                </a:lnSpc>
                <a:buFont typeface="Arial"/>
                <a:buChar char="•"/>
              </a:pPr>
              <a:r>
                <a:rPr lang="en-US" sz="242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Enhanced Zero-Shot Performance </a:t>
              </a:r>
            </a:p>
            <a:p>
              <a:pPr marL="2106763" lvl="2" indent="-702254" algn="just">
                <a:lnSpc>
                  <a:spcPts val="3511"/>
                </a:lnSpc>
                <a:buFont typeface="Arial"/>
                <a:buChar char="⚬"/>
              </a:pPr>
              <a:r>
                <a:rPr lang="en-US" sz="21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Better detection capabilities without extensively training LLMs to a particular task.</a:t>
              </a:r>
            </a:p>
            <a:p>
              <a:pPr marL="2106763" lvl="2" indent="-702254" algn="just">
                <a:lnSpc>
                  <a:spcPts val="3511"/>
                </a:lnSpc>
                <a:buFont typeface="Arial"/>
                <a:buChar char="⚬"/>
              </a:pPr>
              <a:r>
                <a:rPr lang="en-US" sz="21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AUROC (Area Under the Receiver Operating Characteristic Curve): GPT-4 (zero-shot) achieves 0.93–0.99 AUROC, indicating a strong ability to distinguish anomalies from normal samples (Yang et al., 2024).</a:t>
              </a:r>
            </a:p>
            <a:p>
              <a:pPr marL="952762" lvl="1" indent="-476381" algn="just">
                <a:lnSpc>
                  <a:spcPts val="3924"/>
                </a:lnSpc>
                <a:buFont typeface="Arial"/>
                <a:buChar char="•"/>
              </a:pPr>
              <a:r>
                <a:rPr lang="en-US" sz="242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Effective Synthetic Data Augmentation </a:t>
              </a:r>
            </a:p>
            <a:p>
              <a:pPr marL="2106763" lvl="2" indent="-702254" algn="just">
                <a:lnSpc>
                  <a:spcPts val="3511"/>
                </a:lnSpc>
                <a:buFont typeface="Arial"/>
                <a:buChar char="⚬"/>
              </a:pPr>
              <a:r>
                <a:rPr lang="en-US" sz="21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Synthetic samples improve training data quality and model robustness.</a:t>
              </a:r>
            </a:p>
            <a:p>
              <a:pPr marL="2106763" lvl="2" indent="-702254" algn="just">
                <a:lnSpc>
                  <a:spcPts val="3511"/>
                </a:lnSpc>
                <a:buFont typeface="Arial"/>
                <a:buChar char="⚬"/>
              </a:pPr>
              <a:r>
                <a:rPr lang="en-US" sz="21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AUPRC (Area Under the Precision-Recall Curve): Up to 0.90 AUPRC in news anomaly detection tasks, which reflects performance in highly imbalanced datasets (Yang et al., 2024).</a:t>
              </a:r>
            </a:p>
            <a:p>
              <a:pPr marL="952762" lvl="1" indent="-476381" algn="just">
                <a:lnSpc>
                  <a:spcPts val="3924"/>
                </a:lnSpc>
                <a:buFont typeface="Arial"/>
                <a:buChar char="•"/>
              </a:pPr>
              <a:r>
                <a:rPr lang="en-US" sz="242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Operational Efficiency</a:t>
              </a:r>
            </a:p>
            <a:p>
              <a:pPr marL="2106763" lvl="2" indent="-702254" algn="just">
                <a:lnSpc>
                  <a:spcPts val="3511"/>
                </a:lnSpc>
                <a:buFont typeface="Arial"/>
                <a:buChar char="⚬"/>
              </a:pPr>
              <a:r>
                <a:rPr lang="en-US" sz="21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Faster detection with reduced need for manual labeling.</a:t>
              </a:r>
            </a:p>
            <a:p>
              <a:pPr marL="2106763" lvl="2" indent="-702254" algn="just">
                <a:lnSpc>
                  <a:spcPts val="3511"/>
                </a:lnSpc>
                <a:buFont typeface="Arial"/>
                <a:buChar char="⚬"/>
              </a:pPr>
              <a:r>
                <a:rPr lang="en-US" sz="21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F1-Score: ~91% F1-score, outperforming conventional methods (Yang et al., 2024).</a:t>
              </a:r>
            </a:p>
            <a:p>
              <a:pPr marL="2106763" lvl="2" indent="-702254" algn="just">
                <a:lnSpc>
                  <a:spcPts val="3511"/>
                </a:lnSpc>
                <a:buFont typeface="Arial"/>
                <a:buChar char="⚬"/>
              </a:pPr>
              <a:r>
                <a:rPr lang="en-US" sz="21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Precision &amp; Recall: Around 90.5% precision and 91.9% recall on BBC News anomaly dataset (Yang et al., 2024).</a:t>
              </a:r>
            </a:p>
            <a:p>
              <a:pPr marL="2106763" lvl="2" indent="-702254" algn="just">
                <a:lnSpc>
                  <a:spcPts val="2600"/>
                </a:lnSpc>
              </a:pPr>
              <a:endParaRPr lang="en-US" sz="21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06763" lvl="2" indent="-702254" algn="just">
                <a:lnSpc>
                  <a:spcPts val="2600"/>
                </a:lnSpc>
              </a:pPr>
              <a:endParaRPr lang="en-US" sz="21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106763" lvl="2" indent="-702254" algn="just">
                <a:lnSpc>
                  <a:spcPts val="2600"/>
                </a:lnSpc>
              </a:pPr>
              <a:endParaRPr lang="en-US" sz="21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3707" y="9298150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68132" y="689839"/>
            <a:ext cx="12687414" cy="1200275"/>
            <a:chOff x="0" y="0"/>
            <a:chExt cx="16916552" cy="16003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600366"/>
            </a:xfrm>
            <a:custGeom>
              <a:avLst/>
              <a:gdLst/>
              <a:ahLst/>
              <a:cxnLst/>
              <a:rect l="l" t="t" r="r" b="b"/>
              <a:pathLst>
                <a:path w="16916552" h="1600366">
                  <a:moveTo>
                    <a:pt x="0" y="0"/>
                  </a:moveTo>
                  <a:lnTo>
                    <a:pt x="16916552" y="0"/>
                  </a:lnTo>
                  <a:lnTo>
                    <a:pt x="16916552" y="1600366"/>
                  </a:lnTo>
                  <a:lnTo>
                    <a:pt x="0" y="16003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6916552" cy="16956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Significance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1838" y="9497863"/>
            <a:ext cx="7956996" cy="547687"/>
            <a:chOff x="0" y="0"/>
            <a:chExt cx="10609328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80000" y="1877238"/>
            <a:ext cx="16181732" cy="7894468"/>
            <a:chOff x="0" y="0"/>
            <a:chExt cx="21575642" cy="105259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575643" cy="10525958"/>
            </a:xfrm>
            <a:custGeom>
              <a:avLst/>
              <a:gdLst/>
              <a:ahLst/>
              <a:cxnLst/>
              <a:rect l="l" t="t" r="r" b="b"/>
              <a:pathLst>
                <a:path w="21575643" h="10525958">
                  <a:moveTo>
                    <a:pt x="0" y="0"/>
                  </a:moveTo>
                  <a:lnTo>
                    <a:pt x="21575643" y="0"/>
                  </a:lnTo>
                  <a:lnTo>
                    <a:pt x="21575643" y="10525958"/>
                  </a:lnTo>
                  <a:lnTo>
                    <a:pt x="0" y="10525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28600"/>
              <a:ext cx="21575642" cy="107545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15779" lvl="1" indent="-257889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Cybersecurity Impact</a:t>
              </a:r>
            </a:p>
            <a:p>
              <a:pPr marL="1661636" lvl="2" indent="-55387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Enhances early and reliable threat detection, thus minimizing potential damages.</a:t>
              </a:r>
            </a:p>
            <a:p>
              <a:pPr marL="515779" lvl="1" indent="-257889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Scalability &amp; Flexibility </a:t>
              </a:r>
            </a:p>
            <a:p>
              <a:pPr marL="1661636" lvl="2" indent="-55387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Provides and adaptable framework suitable for multiple cybersecurity domains (example: Network   Intrusion, Spam and Phishing emails) (Ren et al., 2025).</a:t>
              </a:r>
            </a:p>
            <a:p>
              <a:pPr marL="1661636" lvl="2" indent="-55387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Supports anomaly detection across multiple modality of data such as text and network traffics.</a:t>
              </a:r>
            </a:p>
            <a:p>
              <a:pPr marL="515779" lvl="1" indent="-257889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Resource Optimization</a:t>
              </a:r>
            </a:p>
            <a:p>
              <a:pPr marL="1661636" lvl="2" indent="-55387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Reduces reliance on large dataset, which results in reduced cost, time and human effort required to label data manually(Yang et al., 2024).</a:t>
              </a:r>
            </a:p>
            <a:p>
              <a:pPr marL="515779" lvl="1" indent="-257889" algn="just">
                <a:lnSpc>
                  <a:spcPts val="5130"/>
                </a:lnSpc>
                <a:buFont typeface="Arial"/>
                <a:buChar char="•"/>
              </a:pPr>
              <a:r>
                <a:rPr lang="en-US" sz="28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Trust &amp; Transparency</a:t>
              </a:r>
            </a:p>
            <a:p>
              <a:pPr marL="1661636" lvl="2" indent="-553879" algn="just">
                <a:lnSpc>
                  <a:spcPts val="4590"/>
                </a:lnSpc>
                <a:buFont typeface="Arial"/>
                <a:buChar char="⚬"/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Integrate model explanation, which provides reasonings as to the decisions made regarding anomaly detection (Xu &amp; Ding, 2024).</a:t>
              </a:r>
            </a:p>
            <a:p>
              <a:pPr marL="1661636" lvl="2" indent="-553879" algn="just">
                <a:lnSpc>
                  <a:spcPts val="3060"/>
                </a:lnSpc>
              </a:pPr>
              <a:endPara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411957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16916552" cy="138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184"/>
                </a:lnSpc>
              </a:pPr>
              <a:r>
                <a:rPr lang="en-US" sz="432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Timeline</a:t>
              </a:r>
            </a:p>
            <a:p>
              <a:pPr algn="l">
                <a:lnSpc>
                  <a:spcPts val="5184"/>
                </a:lnSpc>
              </a:pPr>
              <a:endParaRPr lang="en-US" sz="432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085316" y="1906002"/>
            <a:ext cx="3127980" cy="3128294"/>
            <a:chOff x="0" y="0"/>
            <a:chExt cx="4170640" cy="4171058"/>
          </a:xfrm>
        </p:grpSpPr>
        <p:sp>
          <p:nvSpPr>
            <p:cNvPr id="8" name="Freeform 8"/>
            <p:cNvSpPr/>
            <p:nvPr/>
          </p:nvSpPr>
          <p:spPr>
            <a:xfrm>
              <a:off x="314198" y="251333"/>
              <a:ext cx="3658108" cy="3840480"/>
            </a:xfrm>
            <a:custGeom>
              <a:avLst/>
              <a:gdLst/>
              <a:ahLst/>
              <a:cxnLst/>
              <a:rect l="l" t="t" r="r" b="b"/>
              <a:pathLst>
                <a:path w="3658108" h="3840480">
                  <a:moveTo>
                    <a:pt x="0" y="1834134"/>
                  </a:moveTo>
                  <a:cubicBezTo>
                    <a:pt x="0" y="905764"/>
                    <a:pt x="716661" y="134874"/>
                    <a:pt x="1642491" y="67437"/>
                  </a:cubicBezTo>
                  <a:cubicBezTo>
                    <a:pt x="2568321" y="0"/>
                    <a:pt x="3389122" y="659003"/>
                    <a:pt x="3523615" y="1577594"/>
                  </a:cubicBezTo>
                  <a:cubicBezTo>
                    <a:pt x="3658108" y="2496185"/>
                    <a:pt x="3060573" y="3362706"/>
                    <a:pt x="2154301" y="3563620"/>
                  </a:cubicBezTo>
                  <a:lnTo>
                    <a:pt x="2134743" y="3840480"/>
                  </a:lnTo>
                  <a:lnTo>
                    <a:pt x="1662303" y="3375660"/>
                  </a:lnTo>
                  <a:lnTo>
                    <a:pt x="2207260" y="2813177"/>
                  </a:lnTo>
                  <a:lnTo>
                    <a:pt x="2187956" y="3085719"/>
                  </a:lnTo>
                  <a:cubicBezTo>
                    <a:pt x="2827147" y="2872740"/>
                    <a:pt x="3202940" y="2212086"/>
                    <a:pt x="3059557" y="1553718"/>
                  </a:cubicBezTo>
                  <a:cubicBezTo>
                    <a:pt x="2916174" y="895350"/>
                    <a:pt x="2299843" y="450723"/>
                    <a:pt x="1630045" y="522859"/>
                  </a:cubicBezTo>
                  <a:cubicBezTo>
                    <a:pt x="960247" y="594995"/>
                    <a:pt x="452374" y="1160399"/>
                    <a:pt x="452374" y="1834261"/>
                  </a:cubicBezTo>
                  <a:close/>
                </a:path>
              </a:pathLst>
            </a:custGeom>
            <a:solidFill>
              <a:srgbClr val="A619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88798" y="225171"/>
              <a:ext cx="3710432" cy="3893947"/>
            </a:xfrm>
            <a:custGeom>
              <a:avLst/>
              <a:gdLst/>
              <a:ahLst/>
              <a:cxnLst/>
              <a:rect l="l" t="t" r="r" b="b"/>
              <a:pathLst>
                <a:path w="3710432" h="3893947">
                  <a:moveTo>
                    <a:pt x="0" y="1860296"/>
                  </a:moveTo>
                  <a:cubicBezTo>
                    <a:pt x="0" y="918591"/>
                    <a:pt x="726948" y="136652"/>
                    <a:pt x="1665986" y="68326"/>
                  </a:cubicBezTo>
                  <a:cubicBezTo>
                    <a:pt x="2605024" y="0"/>
                    <a:pt x="3437636" y="668274"/>
                    <a:pt x="3574034" y="1600073"/>
                  </a:cubicBezTo>
                  <a:cubicBezTo>
                    <a:pt x="3710432" y="2531872"/>
                    <a:pt x="3104515" y="3410839"/>
                    <a:pt x="2185162" y="3614547"/>
                  </a:cubicBezTo>
                  <a:lnTo>
                    <a:pt x="2179701" y="3589782"/>
                  </a:lnTo>
                  <a:lnTo>
                    <a:pt x="2205101" y="3591560"/>
                  </a:lnTo>
                  <a:lnTo>
                    <a:pt x="2185543" y="3868420"/>
                  </a:lnTo>
                  <a:cubicBezTo>
                    <a:pt x="2184908" y="3878326"/>
                    <a:pt x="2178431" y="3886835"/>
                    <a:pt x="2169160" y="3890391"/>
                  </a:cubicBezTo>
                  <a:cubicBezTo>
                    <a:pt x="2159889" y="3893947"/>
                    <a:pt x="2149475" y="3891661"/>
                    <a:pt x="2142363" y="3884676"/>
                  </a:cubicBezTo>
                  <a:lnTo>
                    <a:pt x="1669923" y="3419729"/>
                  </a:lnTo>
                  <a:cubicBezTo>
                    <a:pt x="1660017" y="3409950"/>
                    <a:pt x="1659763" y="3393948"/>
                    <a:pt x="1669542" y="3383915"/>
                  </a:cubicBezTo>
                  <a:lnTo>
                    <a:pt x="2214499" y="2821432"/>
                  </a:lnTo>
                  <a:cubicBezTo>
                    <a:pt x="2221865" y="2813812"/>
                    <a:pt x="2233295" y="2811526"/>
                    <a:pt x="2243074" y="2815971"/>
                  </a:cubicBezTo>
                  <a:cubicBezTo>
                    <a:pt x="2252853" y="2820416"/>
                    <a:pt x="2258822" y="2830322"/>
                    <a:pt x="2258060" y="2840990"/>
                  </a:cubicBezTo>
                  <a:lnTo>
                    <a:pt x="2238756" y="3113532"/>
                  </a:lnTo>
                  <a:lnTo>
                    <a:pt x="2213356" y="3111754"/>
                  </a:lnTo>
                  <a:lnTo>
                    <a:pt x="2213356" y="3086354"/>
                  </a:lnTo>
                  <a:lnTo>
                    <a:pt x="2213356" y="3111754"/>
                  </a:lnTo>
                  <a:lnTo>
                    <a:pt x="2205355" y="3087624"/>
                  </a:lnTo>
                  <a:cubicBezTo>
                    <a:pt x="2832227" y="2878709"/>
                    <a:pt x="3200781" y="2230755"/>
                    <a:pt x="3060192" y="1585087"/>
                  </a:cubicBezTo>
                  <a:cubicBezTo>
                    <a:pt x="2919603" y="939419"/>
                    <a:pt x="2315083" y="503555"/>
                    <a:pt x="1658112" y="574167"/>
                  </a:cubicBezTo>
                  <a:cubicBezTo>
                    <a:pt x="1001141" y="644779"/>
                    <a:pt x="503174" y="1199515"/>
                    <a:pt x="503174" y="1860296"/>
                  </a:cubicBezTo>
                  <a:cubicBezTo>
                    <a:pt x="503174" y="1874266"/>
                    <a:pt x="491744" y="1885696"/>
                    <a:pt x="477774" y="1885696"/>
                  </a:cubicBezTo>
                  <a:lnTo>
                    <a:pt x="25400" y="1885696"/>
                  </a:lnTo>
                  <a:cubicBezTo>
                    <a:pt x="18669" y="1885696"/>
                    <a:pt x="12192" y="1883029"/>
                    <a:pt x="7493" y="1878203"/>
                  </a:cubicBezTo>
                  <a:cubicBezTo>
                    <a:pt x="2794" y="1873377"/>
                    <a:pt x="0" y="1867027"/>
                    <a:pt x="0" y="1860296"/>
                  </a:cubicBezTo>
                  <a:moveTo>
                    <a:pt x="50800" y="1860296"/>
                  </a:moveTo>
                  <a:lnTo>
                    <a:pt x="25400" y="1860296"/>
                  </a:lnTo>
                  <a:lnTo>
                    <a:pt x="25400" y="1834896"/>
                  </a:lnTo>
                  <a:lnTo>
                    <a:pt x="477774" y="1834896"/>
                  </a:lnTo>
                  <a:lnTo>
                    <a:pt x="477774" y="1860296"/>
                  </a:lnTo>
                  <a:lnTo>
                    <a:pt x="452374" y="1860296"/>
                  </a:lnTo>
                  <a:cubicBezTo>
                    <a:pt x="452374" y="1173480"/>
                    <a:pt x="969899" y="597154"/>
                    <a:pt x="1652651" y="523621"/>
                  </a:cubicBezTo>
                  <a:lnTo>
                    <a:pt x="1655318" y="548894"/>
                  </a:lnTo>
                  <a:lnTo>
                    <a:pt x="1652651" y="523621"/>
                  </a:lnTo>
                  <a:cubicBezTo>
                    <a:pt x="2335403" y="450088"/>
                    <a:pt x="2963799" y="903097"/>
                    <a:pt x="3109849" y="1574165"/>
                  </a:cubicBezTo>
                  <a:lnTo>
                    <a:pt x="3085084" y="1579626"/>
                  </a:lnTo>
                  <a:lnTo>
                    <a:pt x="3109849" y="1574165"/>
                  </a:lnTo>
                  <a:cubicBezTo>
                    <a:pt x="3256026" y="2245233"/>
                    <a:pt x="2872867" y="2918587"/>
                    <a:pt x="2221484" y="3135630"/>
                  </a:cubicBezTo>
                  <a:cubicBezTo>
                    <a:pt x="2218944" y="3136519"/>
                    <a:pt x="2216150" y="3136900"/>
                    <a:pt x="2213483" y="3136900"/>
                  </a:cubicBezTo>
                  <a:cubicBezTo>
                    <a:pt x="2206498" y="3136900"/>
                    <a:pt x="2199767" y="3133979"/>
                    <a:pt x="2194941" y="3128772"/>
                  </a:cubicBezTo>
                  <a:cubicBezTo>
                    <a:pt x="2190115" y="3123565"/>
                    <a:pt x="2187702" y="3116707"/>
                    <a:pt x="2188210" y="3109722"/>
                  </a:cubicBezTo>
                  <a:lnTo>
                    <a:pt x="2207514" y="2837180"/>
                  </a:lnTo>
                  <a:lnTo>
                    <a:pt x="2232914" y="2838958"/>
                  </a:lnTo>
                  <a:lnTo>
                    <a:pt x="2251202" y="2856611"/>
                  </a:lnTo>
                  <a:lnTo>
                    <a:pt x="1706245" y="3419094"/>
                  </a:lnTo>
                  <a:lnTo>
                    <a:pt x="1687957" y="3401441"/>
                  </a:lnTo>
                  <a:lnTo>
                    <a:pt x="1705737" y="3383280"/>
                  </a:lnTo>
                  <a:lnTo>
                    <a:pt x="2178177" y="3848100"/>
                  </a:lnTo>
                  <a:lnTo>
                    <a:pt x="2160397" y="3866261"/>
                  </a:lnTo>
                  <a:lnTo>
                    <a:pt x="2134997" y="3864483"/>
                  </a:lnTo>
                  <a:lnTo>
                    <a:pt x="2154555" y="3587623"/>
                  </a:lnTo>
                  <a:cubicBezTo>
                    <a:pt x="2155317" y="3576447"/>
                    <a:pt x="2163445" y="3567049"/>
                    <a:pt x="2174367" y="3564636"/>
                  </a:cubicBezTo>
                  <a:cubicBezTo>
                    <a:pt x="3067685" y="3366643"/>
                    <a:pt x="3656584" y="2512568"/>
                    <a:pt x="3523996" y="1607185"/>
                  </a:cubicBezTo>
                  <a:lnTo>
                    <a:pt x="3549142" y="1603502"/>
                  </a:lnTo>
                  <a:lnTo>
                    <a:pt x="3523996" y="1607185"/>
                  </a:lnTo>
                  <a:cubicBezTo>
                    <a:pt x="3391281" y="702056"/>
                    <a:pt x="2582291" y="52578"/>
                    <a:pt x="1669796" y="118999"/>
                  </a:cubicBezTo>
                  <a:lnTo>
                    <a:pt x="1667891" y="93726"/>
                  </a:lnTo>
                  <a:lnTo>
                    <a:pt x="1669796" y="118999"/>
                  </a:lnTo>
                  <a:cubicBezTo>
                    <a:pt x="757174" y="185547"/>
                    <a:pt x="50800" y="945261"/>
                    <a:pt x="50800" y="1860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182464" y="2834887"/>
            <a:ext cx="1866708" cy="1243480"/>
            <a:chOff x="0" y="0"/>
            <a:chExt cx="2488944" cy="16579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88944" cy="1657974"/>
            </a:xfrm>
            <a:custGeom>
              <a:avLst/>
              <a:gdLst/>
              <a:ahLst/>
              <a:cxnLst/>
              <a:rect l="l" t="t" r="r" b="b"/>
              <a:pathLst>
                <a:path w="2488944" h="1657974">
                  <a:moveTo>
                    <a:pt x="0" y="0"/>
                  </a:moveTo>
                  <a:lnTo>
                    <a:pt x="2488944" y="0"/>
                  </a:lnTo>
                  <a:lnTo>
                    <a:pt x="2488944" y="1657974"/>
                  </a:lnTo>
                  <a:lnTo>
                    <a:pt x="0" y="16579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488944" cy="1677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Sachin</a:t>
              </a:r>
            </a:p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Saksham</a:t>
              </a:r>
            </a:p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Chris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779418" y="2387981"/>
            <a:ext cx="1738615" cy="1524855"/>
            <a:chOff x="0" y="0"/>
            <a:chExt cx="2318154" cy="20331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18154" cy="2033140"/>
            </a:xfrm>
            <a:custGeom>
              <a:avLst/>
              <a:gdLst/>
              <a:ahLst/>
              <a:cxnLst/>
              <a:rect l="l" t="t" r="r" b="b"/>
              <a:pathLst>
                <a:path w="2318154" h="2033140">
                  <a:moveTo>
                    <a:pt x="0" y="0"/>
                  </a:moveTo>
                  <a:lnTo>
                    <a:pt x="2318154" y="0"/>
                  </a:lnTo>
                  <a:lnTo>
                    <a:pt x="2318154" y="2033140"/>
                  </a:lnTo>
                  <a:lnTo>
                    <a:pt x="0" y="2033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318154" cy="2052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44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Literature Review &amp; Problem Definition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26919" y="3681777"/>
            <a:ext cx="3127980" cy="3128294"/>
            <a:chOff x="0" y="0"/>
            <a:chExt cx="4170640" cy="4171058"/>
          </a:xfrm>
        </p:grpSpPr>
        <p:sp>
          <p:nvSpPr>
            <p:cNvPr id="17" name="Freeform 17"/>
            <p:cNvSpPr/>
            <p:nvPr/>
          </p:nvSpPr>
          <p:spPr>
            <a:xfrm>
              <a:off x="238506" y="162687"/>
              <a:ext cx="3099308" cy="3928999"/>
            </a:xfrm>
            <a:custGeom>
              <a:avLst/>
              <a:gdLst/>
              <a:ahLst/>
              <a:cxnLst/>
              <a:rect l="l" t="t" r="r" b="b"/>
              <a:pathLst>
                <a:path w="3099308" h="3928999">
                  <a:moveTo>
                    <a:pt x="3099308" y="670433"/>
                  </a:moveTo>
                  <a:lnTo>
                    <a:pt x="2779395" y="990219"/>
                  </a:lnTo>
                  <a:cubicBezTo>
                    <a:pt x="2394204" y="604901"/>
                    <a:pt x="1811782" y="496189"/>
                    <a:pt x="1313561" y="716534"/>
                  </a:cubicBezTo>
                  <a:cubicBezTo>
                    <a:pt x="815340" y="936879"/>
                    <a:pt x="503809" y="1440942"/>
                    <a:pt x="529590" y="1985264"/>
                  </a:cubicBezTo>
                  <a:cubicBezTo>
                    <a:pt x="555371" y="2529586"/>
                    <a:pt x="913130" y="3001899"/>
                    <a:pt x="1429893" y="3174238"/>
                  </a:cubicBezTo>
                  <a:lnTo>
                    <a:pt x="1410589" y="2901696"/>
                  </a:lnTo>
                  <a:lnTo>
                    <a:pt x="1955546" y="3464179"/>
                  </a:lnTo>
                  <a:lnTo>
                    <a:pt x="1483106" y="3928999"/>
                  </a:lnTo>
                  <a:lnTo>
                    <a:pt x="1463548" y="3652139"/>
                  </a:lnTo>
                  <a:cubicBezTo>
                    <a:pt x="727456" y="3489071"/>
                    <a:pt x="175260" y="2877566"/>
                    <a:pt x="87630" y="2128520"/>
                  </a:cubicBezTo>
                  <a:cubicBezTo>
                    <a:pt x="0" y="1379474"/>
                    <a:pt x="396367" y="657098"/>
                    <a:pt x="1075055" y="328549"/>
                  </a:cubicBezTo>
                  <a:cubicBezTo>
                    <a:pt x="1753743" y="0"/>
                    <a:pt x="2566035" y="137160"/>
                    <a:pt x="3099308" y="670433"/>
                  </a:cubicBezTo>
                  <a:close/>
                </a:path>
              </a:pathLst>
            </a:custGeom>
            <a:solidFill>
              <a:srgbClr val="A6192E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212090" y="135001"/>
              <a:ext cx="3153664" cy="3983736"/>
            </a:xfrm>
            <a:custGeom>
              <a:avLst/>
              <a:gdLst/>
              <a:ahLst/>
              <a:cxnLst/>
              <a:rect l="l" t="t" r="r" b="b"/>
              <a:pathLst>
                <a:path w="3153664" h="3983736">
                  <a:moveTo>
                    <a:pt x="3143631" y="716026"/>
                  </a:moveTo>
                  <a:lnTo>
                    <a:pt x="2823718" y="1035939"/>
                  </a:lnTo>
                  <a:lnTo>
                    <a:pt x="2805811" y="1018032"/>
                  </a:lnTo>
                  <a:lnTo>
                    <a:pt x="2826893" y="1003935"/>
                  </a:lnTo>
                  <a:cubicBezTo>
                    <a:pt x="2834132" y="1014857"/>
                    <a:pt x="2831973" y="1029335"/>
                    <a:pt x="2821813" y="1037717"/>
                  </a:cubicBezTo>
                  <a:cubicBezTo>
                    <a:pt x="2811653" y="1046099"/>
                    <a:pt x="2796921" y="1045210"/>
                    <a:pt x="2787777" y="1036066"/>
                  </a:cubicBezTo>
                  <a:cubicBezTo>
                    <a:pt x="2409952" y="658114"/>
                    <a:pt x="1838833" y="551561"/>
                    <a:pt x="1350137" y="767588"/>
                  </a:cubicBezTo>
                  <a:cubicBezTo>
                    <a:pt x="861441" y="983615"/>
                    <a:pt x="556006" y="1477899"/>
                    <a:pt x="581279" y="2011680"/>
                  </a:cubicBezTo>
                  <a:lnTo>
                    <a:pt x="555879" y="2012823"/>
                  </a:lnTo>
                  <a:lnTo>
                    <a:pt x="581279" y="2011680"/>
                  </a:lnTo>
                  <a:cubicBezTo>
                    <a:pt x="606552" y="2545461"/>
                    <a:pt x="957453" y="3008757"/>
                    <a:pt x="1464310" y="3177667"/>
                  </a:cubicBezTo>
                  <a:lnTo>
                    <a:pt x="1456309" y="3201797"/>
                  </a:lnTo>
                  <a:lnTo>
                    <a:pt x="1430909" y="3203575"/>
                  </a:lnTo>
                  <a:lnTo>
                    <a:pt x="1411605" y="2931033"/>
                  </a:lnTo>
                  <a:cubicBezTo>
                    <a:pt x="1410843" y="2920365"/>
                    <a:pt x="1416812" y="2910459"/>
                    <a:pt x="1426591" y="2906014"/>
                  </a:cubicBezTo>
                  <a:cubicBezTo>
                    <a:pt x="1436370" y="2901569"/>
                    <a:pt x="1447800" y="2903855"/>
                    <a:pt x="1455166" y="2911475"/>
                  </a:cubicBezTo>
                  <a:lnTo>
                    <a:pt x="2000123" y="3473958"/>
                  </a:lnTo>
                  <a:cubicBezTo>
                    <a:pt x="2009775" y="3483991"/>
                    <a:pt x="2009648" y="3499993"/>
                    <a:pt x="1999742" y="3509772"/>
                  </a:cubicBezTo>
                  <a:lnTo>
                    <a:pt x="1527302" y="3974592"/>
                  </a:lnTo>
                  <a:cubicBezTo>
                    <a:pt x="1520190" y="3981577"/>
                    <a:pt x="1509776" y="3983736"/>
                    <a:pt x="1500505" y="3980307"/>
                  </a:cubicBezTo>
                  <a:cubicBezTo>
                    <a:pt x="1491234" y="3976878"/>
                    <a:pt x="1484884" y="3968242"/>
                    <a:pt x="1484122" y="3958336"/>
                  </a:cubicBezTo>
                  <a:lnTo>
                    <a:pt x="1464564" y="3681476"/>
                  </a:lnTo>
                  <a:cubicBezTo>
                    <a:pt x="1464056" y="3674491"/>
                    <a:pt x="1466469" y="3667506"/>
                    <a:pt x="1471295" y="3662426"/>
                  </a:cubicBezTo>
                  <a:cubicBezTo>
                    <a:pt x="1476121" y="3657346"/>
                    <a:pt x="1482852" y="3654298"/>
                    <a:pt x="1489837" y="3654298"/>
                  </a:cubicBezTo>
                  <a:lnTo>
                    <a:pt x="1489837" y="3679698"/>
                  </a:lnTo>
                  <a:lnTo>
                    <a:pt x="1484376" y="3704463"/>
                  </a:lnTo>
                  <a:cubicBezTo>
                    <a:pt x="737616" y="3538982"/>
                    <a:pt x="177546" y="2918714"/>
                    <a:pt x="88646" y="2159000"/>
                  </a:cubicBezTo>
                  <a:lnTo>
                    <a:pt x="113919" y="2156079"/>
                  </a:lnTo>
                  <a:lnTo>
                    <a:pt x="88646" y="2159000"/>
                  </a:lnTo>
                  <a:cubicBezTo>
                    <a:pt x="0" y="1399413"/>
                    <a:pt x="401955" y="666623"/>
                    <a:pt x="1090422" y="333375"/>
                  </a:cubicBezTo>
                  <a:lnTo>
                    <a:pt x="1101471" y="356235"/>
                  </a:lnTo>
                  <a:lnTo>
                    <a:pt x="1090422" y="333375"/>
                  </a:lnTo>
                  <a:cubicBezTo>
                    <a:pt x="1778889" y="0"/>
                    <a:pt x="2602865" y="139192"/>
                    <a:pt x="3143631" y="680212"/>
                  </a:cubicBezTo>
                  <a:lnTo>
                    <a:pt x="3125724" y="698119"/>
                  </a:lnTo>
                  <a:lnTo>
                    <a:pt x="3102102" y="707517"/>
                  </a:lnTo>
                  <a:lnTo>
                    <a:pt x="3125724" y="698119"/>
                  </a:lnTo>
                  <a:lnTo>
                    <a:pt x="3143631" y="716026"/>
                  </a:lnTo>
                  <a:moveTo>
                    <a:pt x="3107690" y="680085"/>
                  </a:moveTo>
                  <a:cubicBezTo>
                    <a:pt x="3113786" y="673989"/>
                    <a:pt x="3122422" y="671449"/>
                    <a:pt x="3130804" y="673227"/>
                  </a:cubicBezTo>
                  <a:cubicBezTo>
                    <a:pt x="3139186" y="675005"/>
                    <a:pt x="3146171" y="680720"/>
                    <a:pt x="3149219" y="688721"/>
                  </a:cubicBezTo>
                  <a:cubicBezTo>
                    <a:pt x="3153664" y="699897"/>
                    <a:pt x="3149727" y="712724"/>
                    <a:pt x="3139567" y="719328"/>
                  </a:cubicBezTo>
                  <a:cubicBezTo>
                    <a:pt x="3129407" y="725932"/>
                    <a:pt x="3116199" y="724662"/>
                    <a:pt x="3107563" y="716026"/>
                  </a:cubicBezTo>
                  <a:cubicBezTo>
                    <a:pt x="2582164" y="190373"/>
                    <a:pt x="1781556" y="55118"/>
                    <a:pt x="1112520" y="379095"/>
                  </a:cubicBezTo>
                  <a:cubicBezTo>
                    <a:pt x="443484" y="703072"/>
                    <a:pt x="52959" y="1415034"/>
                    <a:pt x="139319" y="2153285"/>
                  </a:cubicBezTo>
                  <a:cubicBezTo>
                    <a:pt x="225679" y="2891536"/>
                    <a:pt x="769874" y="3494278"/>
                    <a:pt x="1495552" y="3655060"/>
                  </a:cubicBezTo>
                  <a:cubicBezTo>
                    <a:pt x="1508252" y="3657854"/>
                    <a:pt x="1516761" y="3669792"/>
                    <a:pt x="1515364" y="3682619"/>
                  </a:cubicBezTo>
                  <a:cubicBezTo>
                    <a:pt x="1513967" y="3695446"/>
                    <a:pt x="1503045" y="3705225"/>
                    <a:pt x="1490091" y="3705225"/>
                  </a:cubicBezTo>
                  <a:lnTo>
                    <a:pt x="1490091" y="3679825"/>
                  </a:lnTo>
                  <a:lnTo>
                    <a:pt x="1515491" y="3678047"/>
                  </a:lnTo>
                  <a:lnTo>
                    <a:pt x="1535049" y="3954907"/>
                  </a:lnTo>
                  <a:lnTo>
                    <a:pt x="1509649" y="3956685"/>
                  </a:lnTo>
                  <a:lnTo>
                    <a:pt x="1491869" y="3938524"/>
                  </a:lnTo>
                  <a:lnTo>
                    <a:pt x="1964309" y="3473704"/>
                  </a:lnTo>
                  <a:lnTo>
                    <a:pt x="1982089" y="3491865"/>
                  </a:lnTo>
                  <a:lnTo>
                    <a:pt x="1963801" y="3509518"/>
                  </a:lnTo>
                  <a:lnTo>
                    <a:pt x="1418844" y="2947035"/>
                  </a:lnTo>
                  <a:lnTo>
                    <a:pt x="1437132" y="2929382"/>
                  </a:lnTo>
                  <a:lnTo>
                    <a:pt x="1462532" y="2927604"/>
                  </a:lnTo>
                  <a:lnTo>
                    <a:pt x="1481836" y="3200146"/>
                  </a:lnTo>
                  <a:cubicBezTo>
                    <a:pt x="1482471" y="3208655"/>
                    <a:pt x="1478788" y="3216783"/>
                    <a:pt x="1472057" y="3221990"/>
                  </a:cubicBezTo>
                  <a:cubicBezTo>
                    <a:pt x="1465326" y="3227197"/>
                    <a:pt x="1456563" y="3228721"/>
                    <a:pt x="1448435" y="3226054"/>
                  </a:cubicBezTo>
                  <a:cubicBezTo>
                    <a:pt x="921639" y="3050413"/>
                    <a:pt x="557022" y="2568956"/>
                    <a:pt x="530733" y="2014220"/>
                  </a:cubicBezTo>
                  <a:cubicBezTo>
                    <a:pt x="504444" y="1459484"/>
                    <a:pt x="821817" y="945642"/>
                    <a:pt x="1329690" y="720979"/>
                  </a:cubicBezTo>
                  <a:lnTo>
                    <a:pt x="1339977" y="744220"/>
                  </a:lnTo>
                  <a:lnTo>
                    <a:pt x="1329690" y="720979"/>
                  </a:lnTo>
                  <a:cubicBezTo>
                    <a:pt x="1837563" y="496443"/>
                    <a:pt x="2431161" y="607187"/>
                    <a:pt x="2823845" y="999998"/>
                  </a:cubicBezTo>
                  <a:lnTo>
                    <a:pt x="2805938" y="1017905"/>
                  </a:lnTo>
                  <a:lnTo>
                    <a:pt x="2784856" y="1032002"/>
                  </a:lnTo>
                  <a:cubicBezTo>
                    <a:pt x="2778125" y="1021969"/>
                    <a:pt x="2779522" y="1008507"/>
                    <a:pt x="2788031" y="999998"/>
                  </a:cubicBezTo>
                  <a:lnTo>
                    <a:pt x="3107690" y="6800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479602" y="4646560"/>
            <a:ext cx="1866708" cy="1243481"/>
            <a:chOff x="0" y="0"/>
            <a:chExt cx="2488944" cy="16579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88944" cy="1657974"/>
            </a:xfrm>
            <a:custGeom>
              <a:avLst/>
              <a:gdLst/>
              <a:ahLst/>
              <a:cxnLst/>
              <a:rect l="l" t="t" r="r" b="b"/>
              <a:pathLst>
                <a:path w="2488944" h="1657974">
                  <a:moveTo>
                    <a:pt x="0" y="0"/>
                  </a:moveTo>
                  <a:lnTo>
                    <a:pt x="2488944" y="0"/>
                  </a:lnTo>
                  <a:lnTo>
                    <a:pt x="2488944" y="1657974"/>
                  </a:lnTo>
                  <a:lnTo>
                    <a:pt x="0" y="16579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2488944" cy="1677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Aurelio</a:t>
              </a:r>
            </a:p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Sachin</a:t>
              </a:r>
            </a:p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Sanam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30000" y="4412215"/>
            <a:ext cx="1738615" cy="1277493"/>
            <a:chOff x="0" y="0"/>
            <a:chExt cx="2318154" cy="170332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18154" cy="1703324"/>
            </a:xfrm>
            <a:custGeom>
              <a:avLst/>
              <a:gdLst/>
              <a:ahLst/>
              <a:cxnLst/>
              <a:rect l="l" t="t" r="r" b="b"/>
              <a:pathLst>
                <a:path w="2318154" h="1703324">
                  <a:moveTo>
                    <a:pt x="0" y="0"/>
                  </a:moveTo>
                  <a:lnTo>
                    <a:pt x="2318154" y="0"/>
                  </a:lnTo>
                  <a:lnTo>
                    <a:pt x="2318154" y="1703324"/>
                  </a:lnTo>
                  <a:lnTo>
                    <a:pt x="0" y="17033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2318154" cy="17223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44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Preprocessing and Methodology Development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85316" y="5464108"/>
            <a:ext cx="3127980" cy="3128294"/>
            <a:chOff x="0" y="0"/>
            <a:chExt cx="4170640" cy="4171058"/>
          </a:xfrm>
        </p:grpSpPr>
        <p:sp>
          <p:nvSpPr>
            <p:cNvPr id="26" name="Freeform 26"/>
            <p:cNvSpPr/>
            <p:nvPr/>
          </p:nvSpPr>
          <p:spPr>
            <a:xfrm>
              <a:off x="832866" y="162560"/>
              <a:ext cx="3099181" cy="3929126"/>
            </a:xfrm>
            <a:custGeom>
              <a:avLst/>
              <a:gdLst/>
              <a:ahLst/>
              <a:cxnLst/>
              <a:rect l="l" t="t" r="r" b="b"/>
              <a:pathLst>
                <a:path w="3099181" h="3929126">
                  <a:moveTo>
                    <a:pt x="0" y="670560"/>
                  </a:moveTo>
                  <a:cubicBezTo>
                    <a:pt x="533146" y="137287"/>
                    <a:pt x="1345565" y="0"/>
                    <a:pt x="2024253" y="328676"/>
                  </a:cubicBezTo>
                  <a:cubicBezTo>
                    <a:pt x="2702941" y="657352"/>
                    <a:pt x="3099181" y="1379601"/>
                    <a:pt x="3011678" y="2128647"/>
                  </a:cubicBezTo>
                  <a:cubicBezTo>
                    <a:pt x="2924175" y="2877693"/>
                    <a:pt x="2371979" y="3489198"/>
                    <a:pt x="1635760" y="3652266"/>
                  </a:cubicBezTo>
                  <a:lnTo>
                    <a:pt x="1616202" y="3929126"/>
                  </a:lnTo>
                  <a:lnTo>
                    <a:pt x="1143762" y="3464306"/>
                  </a:lnTo>
                  <a:lnTo>
                    <a:pt x="1688719" y="2901823"/>
                  </a:lnTo>
                  <a:lnTo>
                    <a:pt x="1669415" y="3174365"/>
                  </a:lnTo>
                  <a:cubicBezTo>
                    <a:pt x="2186305" y="3002153"/>
                    <a:pt x="2543937" y="2529713"/>
                    <a:pt x="2569718" y="1985391"/>
                  </a:cubicBezTo>
                  <a:cubicBezTo>
                    <a:pt x="2595499" y="1441069"/>
                    <a:pt x="2283968" y="937006"/>
                    <a:pt x="1785747" y="716661"/>
                  </a:cubicBezTo>
                  <a:cubicBezTo>
                    <a:pt x="1287526" y="496316"/>
                    <a:pt x="705104" y="605028"/>
                    <a:pt x="319913" y="990346"/>
                  </a:cubicBezTo>
                  <a:close/>
                </a:path>
              </a:pathLst>
            </a:custGeom>
            <a:solidFill>
              <a:srgbClr val="A619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807466" y="135128"/>
              <a:ext cx="3151124" cy="3983990"/>
            </a:xfrm>
            <a:custGeom>
              <a:avLst/>
              <a:gdLst/>
              <a:ahLst/>
              <a:cxnLst/>
              <a:rect l="l" t="t" r="r" b="b"/>
              <a:pathLst>
                <a:path w="3151124" h="3983990">
                  <a:moveTo>
                    <a:pt x="0" y="697992"/>
                  </a:moveTo>
                  <a:cubicBezTo>
                    <a:pt x="0" y="691261"/>
                    <a:pt x="2667" y="684784"/>
                    <a:pt x="7493" y="680085"/>
                  </a:cubicBezTo>
                  <a:cubicBezTo>
                    <a:pt x="548259" y="139192"/>
                    <a:pt x="1372235" y="0"/>
                    <a:pt x="2060702" y="333248"/>
                  </a:cubicBezTo>
                  <a:lnTo>
                    <a:pt x="2049653" y="356108"/>
                  </a:lnTo>
                  <a:lnTo>
                    <a:pt x="2060702" y="333248"/>
                  </a:lnTo>
                  <a:cubicBezTo>
                    <a:pt x="2749169" y="666623"/>
                    <a:pt x="3151124" y="1399286"/>
                    <a:pt x="3062224" y="2159127"/>
                  </a:cubicBezTo>
                  <a:cubicBezTo>
                    <a:pt x="2973324" y="2918968"/>
                    <a:pt x="2413254" y="3539109"/>
                    <a:pt x="1666494" y="3704590"/>
                  </a:cubicBezTo>
                  <a:lnTo>
                    <a:pt x="1661033" y="3679825"/>
                  </a:lnTo>
                  <a:lnTo>
                    <a:pt x="1686433" y="3681603"/>
                  </a:lnTo>
                  <a:lnTo>
                    <a:pt x="1666875" y="3958463"/>
                  </a:lnTo>
                  <a:cubicBezTo>
                    <a:pt x="1666240" y="3968369"/>
                    <a:pt x="1659763" y="3976878"/>
                    <a:pt x="1650492" y="3980434"/>
                  </a:cubicBezTo>
                  <a:cubicBezTo>
                    <a:pt x="1641221" y="3983990"/>
                    <a:pt x="1630807" y="3981704"/>
                    <a:pt x="1623695" y="3974719"/>
                  </a:cubicBezTo>
                  <a:lnTo>
                    <a:pt x="1151255" y="3509772"/>
                  </a:lnTo>
                  <a:cubicBezTo>
                    <a:pt x="1141349" y="3499993"/>
                    <a:pt x="1141095" y="3483991"/>
                    <a:pt x="1150874" y="3473958"/>
                  </a:cubicBezTo>
                  <a:lnTo>
                    <a:pt x="1695831" y="2911475"/>
                  </a:lnTo>
                  <a:cubicBezTo>
                    <a:pt x="1703197" y="2903855"/>
                    <a:pt x="1714627" y="2901569"/>
                    <a:pt x="1724406" y="2906014"/>
                  </a:cubicBezTo>
                  <a:cubicBezTo>
                    <a:pt x="1734185" y="2910459"/>
                    <a:pt x="1740154" y="2920365"/>
                    <a:pt x="1739392" y="2931033"/>
                  </a:cubicBezTo>
                  <a:lnTo>
                    <a:pt x="1720088" y="3203575"/>
                  </a:lnTo>
                  <a:lnTo>
                    <a:pt x="1694688" y="3201797"/>
                  </a:lnTo>
                  <a:lnTo>
                    <a:pt x="1694688" y="3176397"/>
                  </a:lnTo>
                  <a:lnTo>
                    <a:pt x="1694688" y="3201797"/>
                  </a:lnTo>
                  <a:lnTo>
                    <a:pt x="1686687" y="3177667"/>
                  </a:lnTo>
                  <a:cubicBezTo>
                    <a:pt x="2193544" y="3008757"/>
                    <a:pt x="2544445" y="2545461"/>
                    <a:pt x="2569718" y="2011680"/>
                  </a:cubicBezTo>
                  <a:cubicBezTo>
                    <a:pt x="2594991" y="1477899"/>
                    <a:pt x="2289429" y="983488"/>
                    <a:pt x="1800860" y="767461"/>
                  </a:cubicBezTo>
                  <a:lnTo>
                    <a:pt x="1811147" y="744220"/>
                  </a:lnTo>
                  <a:lnTo>
                    <a:pt x="1800860" y="767461"/>
                  </a:lnTo>
                  <a:cubicBezTo>
                    <a:pt x="1312164" y="551307"/>
                    <a:pt x="741045" y="657987"/>
                    <a:pt x="363220" y="1035939"/>
                  </a:cubicBezTo>
                  <a:cubicBezTo>
                    <a:pt x="358394" y="1040765"/>
                    <a:pt x="352044" y="1043432"/>
                    <a:pt x="345313" y="1043432"/>
                  </a:cubicBezTo>
                  <a:cubicBezTo>
                    <a:pt x="338582" y="1043432"/>
                    <a:pt x="332105" y="1040765"/>
                    <a:pt x="327406" y="1035939"/>
                  </a:cubicBezTo>
                  <a:lnTo>
                    <a:pt x="7493" y="715899"/>
                  </a:lnTo>
                  <a:cubicBezTo>
                    <a:pt x="2667" y="711073"/>
                    <a:pt x="0" y="704723"/>
                    <a:pt x="0" y="697992"/>
                  </a:cubicBezTo>
                  <a:moveTo>
                    <a:pt x="50800" y="697992"/>
                  </a:moveTo>
                  <a:lnTo>
                    <a:pt x="25400" y="697992"/>
                  </a:lnTo>
                  <a:lnTo>
                    <a:pt x="43434" y="679958"/>
                  </a:lnTo>
                  <a:lnTo>
                    <a:pt x="363220" y="999871"/>
                  </a:lnTo>
                  <a:lnTo>
                    <a:pt x="345313" y="1017778"/>
                  </a:lnTo>
                  <a:lnTo>
                    <a:pt x="327406" y="999871"/>
                  </a:lnTo>
                  <a:cubicBezTo>
                    <a:pt x="719963" y="607187"/>
                    <a:pt x="1313561" y="496316"/>
                    <a:pt x="1821434" y="720852"/>
                  </a:cubicBezTo>
                  <a:cubicBezTo>
                    <a:pt x="2329307" y="945388"/>
                    <a:pt x="2646807" y="1459230"/>
                    <a:pt x="2620518" y="2013966"/>
                  </a:cubicBezTo>
                  <a:lnTo>
                    <a:pt x="2595118" y="2012823"/>
                  </a:lnTo>
                  <a:lnTo>
                    <a:pt x="2620518" y="2013966"/>
                  </a:lnTo>
                  <a:cubicBezTo>
                    <a:pt x="2594229" y="2568702"/>
                    <a:pt x="2229612" y="3050159"/>
                    <a:pt x="1702816" y="3225800"/>
                  </a:cubicBezTo>
                  <a:cubicBezTo>
                    <a:pt x="1700276" y="3226689"/>
                    <a:pt x="1697482" y="3227070"/>
                    <a:pt x="1694815" y="3227070"/>
                  </a:cubicBezTo>
                  <a:cubicBezTo>
                    <a:pt x="1687830" y="3227070"/>
                    <a:pt x="1681099" y="3224149"/>
                    <a:pt x="1676273" y="3218942"/>
                  </a:cubicBezTo>
                  <a:cubicBezTo>
                    <a:pt x="1671447" y="3213735"/>
                    <a:pt x="1669034" y="3206877"/>
                    <a:pt x="1669542" y="3199892"/>
                  </a:cubicBezTo>
                  <a:lnTo>
                    <a:pt x="1688846" y="2927350"/>
                  </a:lnTo>
                  <a:lnTo>
                    <a:pt x="1714246" y="2929128"/>
                  </a:lnTo>
                  <a:lnTo>
                    <a:pt x="1732534" y="2946781"/>
                  </a:lnTo>
                  <a:lnTo>
                    <a:pt x="1187577" y="3509264"/>
                  </a:lnTo>
                  <a:lnTo>
                    <a:pt x="1169289" y="3491611"/>
                  </a:lnTo>
                  <a:lnTo>
                    <a:pt x="1187069" y="3473450"/>
                  </a:lnTo>
                  <a:lnTo>
                    <a:pt x="1659509" y="3938270"/>
                  </a:lnTo>
                  <a:lnTo>
                    <a:pt x="1641729" y="3956431"/>
                  </a:lnTo>
                  <a:lnTo>
                    <a:pt x="1616329" y="3954653"/>
                  </a:lnTo>
                  <a:lnTo>
                    <a:pt x="1635887" y="3677793"/>
                  </a:lnTo>
                  <a:cubicBezTo>
                    <a:pt x="1636649" y="3666617"/>
                    <a:pt x="1644777" y="3657219"/>
                    <a:pt x="1655699" y="3654806"/>
                  </a:cubicBezTo>
                  <a:cubicBezTo>
                    <a:pt x="2381377" y="3494024"/>
                    <a:pt x="2925572" y="2891282"/>
                    <a:pt x="3011932" y="2153031"/>
                  </a:cubicBezTo>
                  <a:lnTo>
                    <a:pt x="3037205" y="2155952"/>
                  </a:lnTo>
                  <a:lnTo>
                    <a:pt x="3011932" y="2153031"/>
                  </a:lnTo>
                  <a:cubicBezTo>
                    <a:pt x="3098292" y="1414780"/>
                    <a:pt x="2707640" y="702691"/>
                    <a:pt x="2038731" y="378841"/>
                  </a:cubicBezTo>
                  <a:cubicBezTo>
                    <a:pt x="1369822" y="54991"/>
                    <a:pt x="568833" y="190246"/>
                    <a:pt x="43434" y="715899"/>
                  </a:cubicBezTo>
                  <a:lnTo>
                    <a:pt x="25400" y="697992"/>
                  </a:lnTo>
                  <a:lnTo>
                    <a:pt x="50800" y="6979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0182464" y="6392995"/>
            <a:ext cx="1866708" cy="1243481"/>
            <a:chOff x="0" y="0"/>
            <a:chExt cx="2488944" cy="165797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88944" cy="1657974"/>
            </a:xfrm>
            <a:custGeom>
              <a:avLst/>
              <a:gdLst/>
              <a:ahLst/>
              <a:cxnLst/>
              <a:rect l="l" t="t" r="r" b="b"/>
              <a:pathLst>
                <a:path w="2488944" h="1657974">
                  <a:moveTo>
                    <a:pt x="0" y="0"/>
                  </a:moveTo>
                  <a:lnTo>
                    <a:pt x="2488944" y="0"/>
                  </a:lnTo>
                  <a:lnTo>
                    <a:pt x="2488944" y="1657974"/>
                  </a:lnTo>
                  <a:lnTo>
                    <a:pt x="0" y="16579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2488944" cy="1677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Aurelio</a:t>
              </a:r>
            </a:p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Sanam</a:t>
              </a:r>
            </a:p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Chris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79418" y="6594583"/>
            <a:ext cx="1738615" cy="876362"/>
            <a:chOff x="0" y="0"/>
            <a:chExt cx="2318154" cy="116848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18154" cy="1168482"/>
            </a:xfrm>
            <a:custGeom>
              <a:avLst/>
              <a:gdLst/>
              <a:ahLst/>
              <a:cxnLst/>
              <a:rect l="l" t="t" r="r" b="b"/>
              <a:pathLst>
                <a:path w="2318154" h="1168482">
                  <a:moveTo>
                    <a:pt x="0" y="0"/>
                  </a:moveTo>
                  <a:lnTo>
                    <a:pt x="2318154" y="0"/>
                  </a:lnTo>
                  <a:lnTo>
                    <a:pt x="2318154" y="1168482"/>
                  </a:lnTo>
                  <a:lnTo>
                    <a:pt x="0" y="11684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318154" cy="1187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44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Experimentation &amp; Model Tuning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47170" y="7444750"/>
            <a:ext cx="2692695" cy="2693979"/>
            <a:chOff x="0" y="0"/>
            <a:chExt cx="3590260" cy="3591972"/>
          </a:xfrm>
        </p:grpSpPr>
        <p:sp>
          <p:nvSpPr>
            <p:cNvPr id="35" name="Freeform 35"/>
            <p:cNvSpPr/>
            <p:nvPr/>
          </p:nvSpPr>
          <p:spPr>
            <a:xfrm>
              <a:off x="-163068" y="-145669"/>
              <a:ext cx="3727958" cy="3843020"/>
            </a:xfrm>
            <a:custGeom>
              <a:avLst/>
              <a:gdLst/>
              <a:ahLst/>
              <a:cxnLst/>
              <a:rect l="l" t="t" r="r" b="b"/>
              <a:pathLst>
                <a:path w="3727958" h="3843020">
                  <a:moveTo>
                    <a:pt x="3727958" y="1941703"/>
                  </a:moveTo>
                  <a:cubicBezTo>
                    <a:pt x="3727958" y="2786507"/>
                    <a:pt x="3131439" y="3513582"/>
                    <a:pt x="2303399" y="3678301"/>
                  </a:cubicBezTo>
                  <a:cubicBezTo>
                    <a:pt x="1475359" y="3843020"/>
                    <a:pt x="646176" y="3399536"/>
                    <a:pt x="323088" y="2618994"/>
                  </a:cubicBezTo>
                  <a:cubicBezTo>
                    <a:pt x="0" y="1838452"/>
                    <a:pt x="273177" y="938530"/>
                    <a:pt x="975233" y="469265"/>
                  </a:cubicBezTo>
                  <a:cubicBezTo>
                    <a:pt x="1677289" y="0"/>
                    <a:pt x="2613025" y="92456"/>
                    <a:pt x="3209925" y="689991"/>
                  </a:cubicBezTo>
                  <a:lnTo>
                    <a:pt x="2891028" y="1008761"/>
                  </a:lnTo>
                  <a:cubicBezTo>
                    <a:pt x="2446274" y="563499"/>
                    <a:pt x="1749044" y="494538"/>
                    <a:pt x="1225804" y="844169"/>
                  </a:cubicBezTo>
                  <a:cubicBezTo>
                    <a:pt x="702564" y="1193800"/>
                    <a:pt x="498983" y="1864741"/>
                    <a:pt x="739648" y="2446528"/>
                  </a:cubicBezTo>
                  <a:cubicBezTo>
                    <a:pt x="980313" y="3028315"/>
                    <a:pt x="1598168" y="3358769"/>
                    <a:pt x="2215388" y="3236087"/>
                  </a:cubicBezTo>
                  <a:cubicBezTo>
                    <a:pt x="2832608" y="3113405"/>
                    <a:pt x="3276981" y="2571369"/>
                    <a:pt x="3276981" y="1941830"/>
                  </a:cubicBezTo>
                  <a:close/>
                </a:path>
              </a:pathLst>
            </a:custGeom>
            <a:solidFill>
              <a:srgbClr val="A6192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-191008" y="-173482"/>
              <a:ext cx="3781298" cy="3898138"/>
            </a:xfrm>
            <a:custGeom>
              <a:avLst/>
              <a:gdLst/>
              <a:ahLst/>
              <a:cxnLst/>
              <a:rect l="l" t="t" r="r" b="b"/>
              <a:pathLst>
                <a:path w="3781298" h="3898138">
                  <a:moveTo>
                    <a:pt x="3781298" y="1969516"/>
                  </a:moveTo>
                  <a:cubicBezTo>
                    <a:pt x="3781298" y="2826385"/>
                    <a:pt x="3176270" y="3563874"/>
                    <a:pt x="2336292" y="3731006"/>
                  </a:cubicBezTo>
                  <a:lnTo>
                    <a:pt x="2331339" y="3706114"/>
                  </a:lnTo>
                  <a:lnTo>
                    <a:pt x="2336292" y="3731006"/>
                  </a:lnTo>
                  <a:cubicBezTo>
                    <a:pt x="1496314" y="3898138"/>
                    <a:pt x="655320" y="3448304"/>
                    <a:pt x="327660" y="2656586"/>
                  </a:cubicBezTo>
                  <a:lnTo>
                    <a:pt x="351155" y="2646934"/>
                  </a:lnTo>
                  <a:lnTo>
                    <a:pt x="327660" y="2656586"/>
                  </a:lnTo>
                  <a:cubicBezTo>
                    <a:pt x="0" y="1864868"/>
                    <a:pt x="276987" y="951992"/>
                    <a:pt x="989203" y="475996"/>
                  </a:cubicBezTo>
                  <a:cubicBezTo>
                    <a:pt x="1701419" y="0"/>
                    <a:pt x="2650363" y="93726"/>
                    <a:pt x="3255772" y="699770"/>
                  </a:cubicBezTo>
                  <a:cubicBezTo>
                    <a:pt x="3265678" y="709676"/>
                    <a:pt x="3265678" y="725805"/>
                    <a:pt x="3255772" y="735711"/>
                  </a:cubicBezTo>
                  <a:lnTo>
                    <a:pt x="2936875" y="1054608"/>
                  </a:lnTo>
                  <a:lnTo>
                    <a:pt x="2918968" y="1036701"/>
                  </a:lnTo>
                  <a:lnTo>
                    <a:pt x="2941701" y="1025398"/>
                  </a:lnTo>
                  <a:cubicBezTo>
                    <a:pt x="2947289" y="1036574"/>
                    <a:pt x="2943987" y="1050036"/>
                    <a:pt x="2933827" y="1057402"/>
                  </a:cubicBezTo>
                  <a:cubicBezTo>
                    <a:pt x="2923667" y="1064768"/>
                    <a:pt x="2909824" y="1063498"/>
                    <a:pt x="2901061" y="1054735"/>
                  </a:cubicBezTo>
                  <a:cubicBezTo>
                    <a:pt x="2464816" y="617855"/>
                    <a:pt x="1781048" y="550164"/>
                    <a:pt x="1267841" y="893191"/>
                  </a:cubicBezTo>
                  <a:cubicBezTo>
                    <a:pt x="754634" y="1236218"/>
                    <a:pt x="554990" y="1894078"/>
                    <a:pt x="791083" y="2464562"/>
                  </a:cubicBezTo>
                  <a:cubicBezTo>
                    <a:pt x="1027176" y="3035046"/>
                    <a:pt x="1633093" y="3359277"/>
                    <a:pt x="2238375" y="3238881"/>
                  </a:cubicBezTo>
                  <a:cubicBezTo>
                    <a:pt x="2843657" y="3118485"/>
                    <a:pt x="3279521" y="2586990"/>
                    <a:pt x="3279521" y="1969516"/>
                  </a:cubicBezTo>
                  <a:cubicBezTo>
                    <a:pt x="3279521" y="1955546"/>
                    <a:pt x="3290951" y="1944116"/>
                    <a:pt x="3304921" y="1944116"/>
                  </a:cubicBezTo>
                  <a:lnTo>
                    <a:pt x="3755898" y="1944116"/>
                  </a:lnTo>
                  <a:cubicBezTo>
                    <a:pt x="3769868" y="1944116"/>
                    <a:pt x="3781298" y="1955546"/>
                    <a:pt x="3781298" y="1969516"/>
                  </a:cubicBezTo>
                  <a:moveTo>
                    <a:pt x="3730498" y="1969516"/>
                  </a:moveTo>
                  <a:lnTo>
                    <a:pt x="3755898" y="1969516"/>
                  </a:lnTo>
                  <a:lnTo>
                    <a:pt x="3755898" y="1994916"/>
                  </a:lnTo>
                  <a:lnTo>
                    <a:pt x="3304921" y="1994916"/>
                  </a:lnTo>
                  <a:lnTo>
                    <a:pt x="3304921" y="1969516"/>
                  </a:lnTo>
                  <a:lnTo>
                    <a:pt x="3330321" y="1969516"/>
                  </a:lnTo>
                  <a:cubicBezTo>
                    <a:pt x="3330321" y="2611247"/>
                    <a:pt x="2877312" y="3163570"/>
                    <a:pt x="2248281" y="3288792"/>
                  </a:cubicBezTo>
                  <a:lnTo>
                    <a:pt x="2243328" y="3263900"/>
                  </a:lnTo>
                  <a:lnTo>
                    <a:pt x="2248281" y="3288792"/>
                  </a:lnTo>
                  <a:cubicBezTo>
                    <a:pt x="1619250" y="3413887"/>
                    <a:pt x="989457" y="3076956"/>
                    <a:pt x="744220" y="2484120"/>
                  </a:cubicBezTo>
                  <a:lnTo>
                    <a:pt x="767715" y="2474468"/>
                  </a:lnTo>
                  <a:lnTo>
                    <a:pt x="744220" y="2484120"/>
                  </a:lnTo>
                  <a:cubicBezTo>
                    <a:pt x="498856" y="1891030"/>
                    <a:pt x="706247" y="1207262"/>
                    <a:pt x="1239647" y="850900"/>
                  </a:cubicBezTo>
                  <a:lnTo>
                    <a:pt x="1253744" y="871982"/>
                  </a:lnTo>
                  <a:lnTo>
                    <a:pt x="1239647" y="850900"/>
                  </a:lnTo>
                  <a:cubicBezTo>
                    <a:pt x="1772920" y="494538"/>
                    <a:pt x="2483612" y="564769"/>
                    <a:pt x="2937002" y="1018667"/>
                  </a:cubicBezTo>
                  <a:lnTo>
                    <a:pt x="2918968" y="1036574"/>
                  </a:lnTo>
                  <a:lnTo>
                    <a:pt x="2896235" y="1047877"/>
                  </a:lnTo>
                  <a:cubicBezTo>
                    <a:pt x="2891409" y="1038098"/>
                    <a:pt x="2893314" y="1026287"/>
                    <a:pt x="2900934" y="1018540"/>
                  </a:cubicBezTo>
                  <a:lnTo>
                    <a:pt x="3219831" y="699643"/>
                  </a:lnTo>
                  <a:lnTo>
                    <a:pt x="3237738" y="717550"/>
                  </a:lnTo>
                  <a:lnTo>
                    <a:pt x="3219831" y="735457"/>
                  </a:lnTo>
                  <a:cubicBezTo>
                    <a:pt x="2631567" y="146812"/>
                    <a:pt x="1709293" y="55753"/>
                    <a:pt x="1017270" y="518160"/>
                  </a:cubicBezTo>
                  <a:lnTo>
                    <a:pt x="1003173" y="497078"/>
                  </a:lnTo>
                  <a:lnTo>
                    <a:pt x="1017270" y="518160"/>
                  </a:lnTo>
                  <a:cubicBezTo>
                    <a:pt x="325247" y="980694"/>
                    <a:pt x="56134" y="1867789"/>
                    <a:pt x="374523" y="2637155"/>
                  </a:cubicBezTo>
                  <a:cubicBezTo>
                    <a:pt x="692912" y="3406521"/>
                    <a:pt x="1510157" y="3843528"/>
                    <a:pt x="2326386" y="3681222"/>
                  </a:cubicBezTo>
                  <a:cubicBezTo>
                    <a:pt x="3142615" y="3518916"/>
                    <a:pt x="3730498" y="2802128"/>
                    <a:pt x="3730498" y="19695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4610920" y="8142868"/>
            <a:ext cx="1866708" cy="1243481"/>
            <a:chOff x="0" y="0"/>
            <a:chExt cx="2488944" cy="165797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488944" cy="1657974"/>
            </a:xfrm>
            <a:custGeom>
              <a:avLst/>
              <a:gdLst/>
              <a:ahLst/>
              <a:cxnLst/>
              <a:rect l="l" t="t" r="r" b="b"/>
              <a:pathLst>
                <a:path w="2488944" h="1657974">
                  <a:moveTo>
                    <a:pt x="0" y="0"/>
                  </a:moveTo>
                  <a:lnTo>
                    <a:pt x="2488944" y="0"/>
                  </a:lnTo>
                  <a:lnTo>
                    <a:pt x="2488944" y="1657974"/>
                  </a:lnTo>
                  <a:lnTo>
                    <a:pt x="0" y="16579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2488944" cy="1677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Saksham </a:t>
              </a:r>
            </a:p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Chris</a:t>
              </a:r>
            </a:p>
            <a:p>
              <a:pPr marL="434340" lvl="2" indent="-144780" algn="l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Sanam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917543" y="8142868"/>
            <a:ext cx="1738615" cy="1107130"/>
            <a:chOff x="0" y="0"/>
            <a:chExt cx="2318154" cy="147617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318154" cy="1476174"/>
            </a:xfrm>
            <a:custGeom>
              <a:avLst/>
              <a:gdLst/>
              <a:ahLst/>
              <a:cxnLst/>
              <a:rect l="l" t="t" r="r" b="b"/>
              <a:pathLst>
                <a:path w="2318154" h="1476174">
                  <a:moveTo>
                    <a:pt x="0" y="0"/>
                  </a:moveTo>
                  <a:lnTo>
                    <a:pt x="2318154" y="0"/>
                  </a:lnTo>
                  <a:lnTo>
                    <a:pt x="2318154" y="1476174"/>
                  </a:lnTo>
                  <a:lnTo>
                    <a:pt x="0" y="14761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2318154" cy="14952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44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Analysis, Reporting and Final Documentation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66761" y="9696045"/>
            <a:ext cx="7956996" cy="547687"/>
            <a:chOff x="0" y="0"/>
            <a:chExt cx="10609328" cy="7302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70060" y="2203316"/>
            <a:ext cx="3414408" cy="369331"/>
            <a:chOff x="0" y="0"/>
            <a:chExt cx="4552544" cy="49244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552544" cy="492442"/>
            </a:xfrm>
            <a:custGeom>
              <a:avLst/>
              <a:gdLst/>
              <a:ahLst/>
              <a:cxnLst/>
              <a:rect l="l" t="t" r="r" b="b"/>
              <a:pathLst>
                <a:path w="4552544" h="492442">
                  <a:moveTo>
                    <a:pt x="0" y="0"/>
                  </a:moveTo>
                  <a:lnTo>
                    <a:pt x="4552544" y="0"/>
                  </a:lnTo>
                  <a:lnTo>
                    <a:pt x="4552544" y="492442"/>
                  </a:lnTo>
                  <a:lnTo>
                    <a:pt x="0" y="492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4552544" cy="5305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Week 2 to Week 4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574933" y="5109294"/>
            <a:ext cx="3414408" cy="369331"/>
            <a:chOff x="0" y="0"/>
            <a:chExt cx="4552544" cy="4924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552544" cy="492442"/>
            </a:xfrm>
            <a:custGeom>
              <a:avLst/>
              <a:gdLst/>
              <a:ahLst/>
              <a:cxnLst/>
              <a:rect l="l" t="t" r="r" b="b"/>
              <a:pathLst>
                <a:path w="4552544" h="492442">
                  <a:moveTo>
                    <a:pt x="0" y="0"/>
                  </a:moveTo>
                  <a:lnTo>
                    <a:pt x="4552544" y="0"/>
                  </a:lnTo>
                  <a:lnTo>
                    <a:pt x="4552544" y="492442"/>
                  </a:lnTo>
                  <a:lnTo>
                    <a:pt x="0" y="492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4552544" cy="5305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Week 4 to Week 7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846325" y="6853137"/>
            <a:ext cx="3414408" cy="369331"/>
            <a:chOff x="0" y="0"/>
            <a:chExt cx="4552544" cy="49244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552544" cy="492442"/>
            </a:xfrm>
            <a:custGeom>
              <a:avLst/>
              <a:gdLst/>
              <a:ahLst/>
              <a:cxnLst/>
              <a:rect l="l" t="t" r="r" b="b"/>
              <a:pathLst>
                <a:path w="4552544" h="492442">
                  <a:moveTo>
                    <a:pt x="0" y="0"/>
                  </a:moveTo>
                  <a:lnTo>
                    <a:pt x="4552544" y="0"/>
                  </a:lnTo>
                  <a:lnTo>
                    <a:pt x="4552544" y="492442"/>
                  </a:lnTo>
                  <a:lnTo>
                    <a:pt x="0" y="492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4552544" cy="5305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Week 6 to Week 11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866761" y="8412313"/>
            <a:ext cx="3414408" cy="369331"/>
            <a:chOff x="0" y="0"/>
            <a:chExt cx="4552544" cy="4924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552544" cy="492442"/>
            </a:xfrm>
            <a:custGeom>
              <a:avLst/>
              <a:gdLst/>
              <a:ahLst/>
              <a:cxnLst/>
              <a:rect l="l" t="t" r="r" b="b"/>
              <a:pathLst>
                <a:path w="4552544" h="492442">
                  <a:moveTo>
                    <a:pt x="0" y="0"/>
                  </a:moveTo>
                  <a:lnTo>
                    <a:pt x="4552544" y="0"/>
                  </a:lnTo>
                  <a:lnTo>
                    <a:pt x="4552544" y="492442"/>
                  </a:lnTo>
                  <a:lnTo>
                    <a:pt x="0" y="492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4552544" cy="5305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Week 11 to Week 13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1268445"/>
            <a:ext cx="12687414" cy="972000"/>
            <a:chOff x="0" y="0"/>
            <a:chExt cx="16916552" cy="129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296000"/>
            </a:xfrm>
            <a:custGeom>
              <a:avLst/>
              <a:gdLst/>
              <a:ahLst/>
              <a:cxnLst/>
              <a:rect l="l" t="t" r="r" b="b"/>
              <a:pathLst>
                <a:path w="16916552" h="1296000">
                  <a:moveTo>
                    <a:pt x="0" y="0"/>
                  </a:moveTo>
                  <a:lnTo>
                    <a:pt x="16916552" y="0"/>
                  </a:lnTo>
                  <a:lnTo>
                    <a:pt x="16916552" y="1296000"/>
                  </a:lnTo>
                  <a:lnTo>
                    <a:pt x="0" y="129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16916552" cy="138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184"/>
                </a:lnSpc>
              </a:pPr>
              <a:r>
                <a:rPr lang="en-US" sz="432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  <a:p>
              <a:pPr algn="l">
                <a:lnSpc>
                  <a:spcPts val="5184"/>
                </a:lnSpc>
              </a:pPr>
              <a:endParaRPr lang="en-US" sz="432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149082"/>
            <a:ext cx="16251300" cy="4671060"/>
            <a:chOff x="0" y="0"/>
            <a:chExt cx="21668400" cy="62280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68401" cy="6228080"/>
            </a:xfrm>
            <a:custGeom>
              <a:avLst/>
              <a:gdLst/>
              <a:ahLst/>
              <a:cxnLst/>
              <a:rect l="l" t="t" r="r" b="b"/>
              <a:pathLst>
                <a:path w="21668401" h="6228080">
                  <a:moveTo>
                    <a:pt x="0" y="0"/>
                  </a:moveTo>
                  <a:lnTo>
                    <a:pt x="21668401" y="0"/>
                  </a:lnTo>
                  <a:lnTo>
                    <a:pt x="21668401" y="6228080"/>
                  </a:lnTo>
                  <a:lnTo>
                    <a:pt x="0" y="6228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1668400" cy="6294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  <a:p>
              <a:pPr algn="l">
                <a:lnSpc>
                  <a:spcPts val="3600"/>
                </a:lnSpc>
              </a:pPr>
              <a:endParaRPr/>
            </a:p>
            <a:p>
              <a:pPr marL="542925" lvl="1" indent="-271462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Yang, T., Nian, Y., Li, S., Xu, R., Li, Y., Li, J., Xiao, Z., Hu, X., Rossi, R., Ding, K., Hu, X., &amp; Zhao, Y. (2024). </a:t>
              </a:r>
              <a:r>
                <a:rPr lang="en-US" sz="3000" i="1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AD-LLM: Benchmarking Large Language Models for Anomaly Detection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ArXiv.org. </a:t>
              </a:r>
              <a:r>
                <a:rPr lang="en-US" sz="3000" u="sng">
                  <a:solidFill>
                    <a:srgbClr val="A6192E"/>
                  </a:solidFill>
                  <a:latin typeface="Arial"/>
                  <a:ea typeface="Arial"/>
                  <a:cs typeface="Arial"/>
                  <a:sym typeface="Arial"/>
                  <a:hlinkClick r:id="rId4" tooltip="https://arxiv.org/abs/2412.11142"/>
                </a:rPr>
                <a:t>https://arxiv.org/abs/2412.11142</a:t>
              </a:r>
            </a:p>
            <a:p>
              <a:pPr marL="542925" lvl="1" indent="-271462" algn="l">
                <a:lnSpc>
                  <a:spcPts val="3600"/>
                </a:lnSpc>
              </a:pPr>
              <a:endParaRPr lang="en-US" sz="3000" u="sng">
                <a:solidFill>
                  <a:srgbClr val="A6192E"/>
                </a:solidFill>
                <a:latin typeface="Arial"/>
                <a:ea typeface="Arial"/>
                <a:cs typeface="Arial"/>
                <a:sym typeface="Arial"/>
                <a:hlinkClick r:id="rId4" tooltip="https://arxiv.org/abs/2412.11142"/>
              </a:endParaRPr>
            </a:p>
            <a:p>
              <a:pPr marL="542925" lvl="1" indent="-271462" algn="l">
                <a:lnSpc>
                  <a:spcPts val="3600"/>
                </a:lnSpc>
              </a:pPr>
              <a:endParaRPr lang="en-US" sz="3000" u="sng">
                <a:solidFill>
                  <a:srgbClr val="A6192E"/>
                </a:solidFill>
                <a:latin typeface="Arial"/>
                <a:ea typeface="Arial"/>
                <a:cs typeface="Arial"/>
                <a:sym typeface="Arial"/>
                <a:hlinkClick r:id="rId4" tooltip="https://arxiv.org/abs/2412.11142"/>
              </a:endParaRPr>
            </a:p>
            <a:p>
              <a:pPr marL="542925" lvl="1" indent="-271462" algn="l">
                <a:lnSpc>
                  <a:spcPts val="3600"/>
                </a:lnSpc>
              </a:pPr>
              <a:endParaRPr lang="en-US" sz="3000" u="sng">
                <a:solidFill>
                  <a:srgbClr val="A6192E"/>
                </a:solidFill>
                <a:latin typeface="Arial"/>
                <a:ea typeface="Arial"/>
                <a:cs typeface="Arial"/>
                <a:sym typeface="Arial"/>
                <a:hlinkClick r:id="rId4" tooltip="https://arxiv.org/abs/2412.11142"/>
              </a:endParaRPr>
            </a:p>
            <a:p>
              <a:pPr marL="542925" lvl="1" indent="-271462" algn="l">
                <a:lnSpc>
                  <a:spcPts val="3600"/>
                </a:lnSpc>
              </a:pPr>
              <a:endParaRPr lang="en-US" sz="3000" u="sng">
                <a:solidFill>
                  <a:srgbClr val="A6192E"/>
                </a:solidFill>
                <a:latin typeface="Arial"/>
                <a:ea typeface="Arial"/>
                <a:cs typeface="Arial"/>
                <a:sym typeface="Arial"/>
                <a:hlinkClick r:id="rId4" tooltip="https://arxiv.org/abs/2412.11142"/>
              </a:endParaRPr>
            </a:p>
            <a:p>
              <a:pPr marL="542925" lvl="1" indent="-271462" algn="l">
                <a:lnSpc>
                  <a:spcPts val="3600"/>
                </a:lnSpc>
              </a:pPr>
              <a:endParaRPr lang="en-US" sz="3000" u="sng">
                <a:solidFill>
                  <a:srgbClr val="A6192E"/>
                </a:solidFill>
                <a:latin typeface="Arial"/>
                <a:ea typeface="Arial"/>
                <a:cs typeface="Arial"/>
                <a:sym typeface="Arial"/>
                <a:hlinkClick r:id="rId4" tooltip="https://arxiv.org/abs/2412.11142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3707" y="9571994"/>
            <a:ext cx="7956996" cy="547687"/>
            <a:chOff x="0" y="0"/>
            <a:chExt cx="10609328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4837" y="4967208"/>
            <a:ext cx="15375166" cy="923330"/>
            <a:chOff x="0" y="0"/>
            <a:chExt cx="20500222" cy="12311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500222" cy="1231106"/>
            </a:xfrm>
            <a:custGeom>
              <a:avLst/>
              <a:gdLst/>
              <a:ahLst/>
              <a:cxnLst/>
              <a:rect l="l" t="t" r="r" b="b"/>
              <a:pathLst>
                <a:path w="20500222" h="1231106">
                  <a:moveTo>
                    <a:pt x="0" y="0"/>
                  </a:moveTo>
                  <a:lnTo>
                    <a:pt x="20500222" y="0"/>
                  </a:lnTo>
                  <a:lnTo>
                    <a:pt x="20500222" y="1231106"/>
                  </a:lnTo>
                  <a:lnTo>
                    <a:pt x="0" y="1231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0500222" cy="12977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42925" lvl="1" indent="-271462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Xu, R., &amp; Ding, K. (2024). </a:t>
              </a:r>
              <a:r>
                <a:rPr lang="en-US" sz="3000" i="1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Large Language Models for Anomaly and Out-of-Distribution Detection: A Survey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ArXiv.org. </a:t>
              </a:r>
              <a:r>
                <a:rPr lang="en-US" sz="3000" u="sng">
                  <a:solidFill>
                    <a:srgbClr val="A6192E"/>
                  </a:solidFill>
                  <a:latin typeface="Arial"/>
                  <a:ea typeface="Arial"/>
                  <a:cs typeface="Arial"/>
                  <a:sym typeface="Arial"/>
                  <a:hlinkClick r:id="rId5" tooltip="https://arxiv.org/abs/2409.01980"/>
                </a:rPr>
                <a:t>https://arxiv.org/abs/2409.01980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4837" y="2526108"/>
            <a:ext cx="15566774" cy="1384995"/>
            <a:chOff x="0" y="0"/>
            <a:chExt cx="20755698" cy="18466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755697" cy="1846660"/>
            </a:xfrm>
            <a:custGeom>
              <a:avLst/>
              <a:gdLst/>
              <a:ahLst/>
              <a:cxnLst/>
              <a:rect l="l" t="t" r="r" b="b"/>
              <a:pathLst>
                <a:path w="20755697" h="1846660">
                  <a:moveTo>
                    <a:pt x="0" y="0"/>
                  </a:moveTo>
                  <a:lnTo>
                    <a:pt x="20755697" y="0"/>
                  </a:lnTo>
                  <a:lnTo>
                    <a:pt x="20755697" y="1846660"/>
                  </a:lnTo>
                  <a:lnTo>
                    <a:pt x="0" y="18466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20755698" cy="19133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42925" lvl="1" indent="-271462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Ren, J., Tang, T., Jia, H., Fayek, H., Li, X., Ma, S., Xu, X., &amp; Xia, F. (2025). </a:t>
              </a:r>
              <a:r>
                <a:rPr lang="en-US" sz="3000" i="1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Foundation Models for Anomaly Detection: Vision and Challenges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ArXiv.org. </a:t>
              </a:r>
              <a:r>
                <a:rPr lang="en-US" sz="3000" u="sng">
                  <a:solidFill>
                    <a:srgbClr val="A6192E"/>
                  </a:solidFill>
                  <a:latin typeface="Arial"/>
                  <a:ea typeface="Arial"/>
                  <a:cs typeface="Arial"/>
                  <a:sym typeface="Arial"/>
                  <a:hlinkClick r:id="rId6" tooltip="https://arxiv.org/abs/2502.06911"/>
                </a:rPr>
                <a:t>https://arxiv.org/abs/2502.06911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9761" y="325908"/>
            <a:ext cx="3056400" cy="1144095"/>
          </a:xfrm>
          <a:custGeom>
            <a:avLst/>
            <a:gdLst/>
            <a:ahLst/>
            <a:cxnLst/>
            <a:rect l="l" t="t" r="r" b="b"/>
            <a:pathLst>
              <a:path w="3056400" h="1144095">
                <a:moveTo>
                  <a:pt x="0" y="0"/>
                </a:moveTo>
                <a:lnTo>
                  <a:pt x="3056400" y="0"/>
                </a:lnTo>
                <a:lnTo>
                  <a:pt x="3056400" y="1144095"/>
                </a:lnTo>
                <a:lnTo>
                  <a:pt x="0" y="114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r="-1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000" y="2052000"/>
            <a:ext cx="16200000" cy="19076"/>
          </a:xfrm>
          <a:custGeom>
            <a:avLst/>
            <a:gdLst/>
            <a:ahLst/>
            <a:cxnLst/>
            <a:rect l="l" t="t" r="r" b="b"/>
            <a:pathLst>
              <a:path w="16200000" h="19076">
                <a:moveTo>
                  <a:pt x="0" y="0"/>
                </a:moveTo>
                <a:lnTo>
                  <a:pt x="16200000" y="0"/>
                </a:lnTo>
                <a:lnTo>
                  <a:pt x="16200000" y="19076"/>
                </a:lnTo>
                <a:lnTo>
                  <a:pt x="0" y="1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80000" y="1268445"/>
            <a:ext cx="12687414" cy="1457096"/>
            <a:chOff x="0" y="0"/>
            <a:chExt cx="16916552" cy="1942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552" cy="1942795"/>
            </a:xfrm>
            <a:custGeom>
              <a:avLst/>
              <a:gdLst/>
              <a:ahLst/>
              <a:cxnLst/>
              <a:rect l="l" t="t" r="r" b="b"/>
              <a:pathLst>
                <a:path w="16916552" h="1942795">
                  <a:moveTo>
                    <a:pt x="0" y="0"/>
                  </a:moveTo>
                  <a:lnTo>
                    <a:pt x="16916552" y="0"/>
                  </a:lnTo>
                  <a:lnTo>
                    <a:pt x="16916552" y="1942795"/>
                  </a:lnTo>
                  <a:lnTo>
                    <a:pt x="0" y="19427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16916552" cy="20285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184"/>
                </a:lnSpc>
              </a:pPr>
              <a:r>
                <a:rPr lang="en-US" sz="432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Contact</a:t>
              </a:r>
            </a:p>
            <a:p>
              <a:pPr algn="l">
                <a:lnSpc>
                  <a:spcPts val="5184"/>
                </a:lnSpc>
              </a:pPr>
              <a:endParaRPr lang="en-US" sz="432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23707" y="9571993"/>
            <a:ext cx="7956996" cy="547687"/>
            <a:chOff x="0" y="0"/>
            <a:chExt cx="10609328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09328" cy="730250"/>
            </a:xfrm>
            <a:custGeom>
              <a:avLst/>
              <a:gdLst/>
              <a:ahLst/>
              <a:cxnLst/>
              <a:rect l="l" t="t" r="r" b="b"/>
              <a:pathLst>
                <a:path w="10609328" h="730250">
                  <a:moveTo>
                    <a:pt x="0" y="0"/>
                  </a:moveTo>
                  <a:lnTo>
                    <a:pt x="10609328" y="0"/>
                  </a:lnTo>
                  <a:lnTo>
                    <a:pt x="1060932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0609328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COMP28851, S1, 2025: Project Proposal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106400" y="9571994"/>
            <a:ext cx="4267200" cy="547687"/>
            <a:chOff x="0" y="0"/>
            <a:chExt cx="56896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5689600" cy="758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4837" y="2526108"/>
            <a:ext cx="15566774" cy="1384995"/>
            <a:chOff x="0" y="0"/>
            <a:chExt cx="20755698" cy="18466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55697" cy="1846660"/>
            </a:xfrm>
            <a:custGeom>
              <a:avLst/>
              <a:gdLst/>
              <a:ahLst/>
              <a:cxnLst/>
              <a:rect l="l" t="t" r="r" b="b"/>
              <a:pathLst>
                <a:path w="20755697" h="1846660">
                  <a:moveTo>
                    <a:pt x="0" y="0"/>
                  </a:moveTo>
                  <a:lnTo>
                    <a:pt x="20755697" y="0"/>
                  </a:lnTo>
                  <a:lnTo>
                    <a:pt x="20755697" y="1846660"/>
                  </a:lnTo>
                  <a:lnTo>
                    <a:pt x="0" y="18466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0755698" cy="19133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42925" lvl="1" indent="-271462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 any questions, please contact Aurelio Ribeiro - aurelio.ribeiro@students.mq.edu.au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1476</Words>
  <Application>Microsoft Office PowerPoint</Application>
  <PresentationFormat>Custom</PresentationFormat>
  <Paragraphs>191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 Bold</vt:lpstr>
      <vt:lpstr>Arial Italics</vt:lpstr>
      <vt:lpstr>Arial</vt:lpstr>
      <vt:lpstr>Times New Roman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</dc:title>
  <dc:creator>Aurelio Ribeiro</dc:creator>
  <cp:lastModifiedBy>Aurelio Ribeiro</cp:lastModifiedBy>
  <cp:revision>2</cp:revision>
  <dcterms:created xsi:type="dcterms:W3CDTF">2006-08-16T00:00:00Z</dcterms:created>
  <dcterms:modified xsi:type="dcterms:W3CDTF">2025-03-17T11:01:58Z</dcterms:modified>
  <dc:identifier>DAGh9Dpu2EI</dc:identifier>
</cp:coreProperties>
</file>